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119813" cy="28797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E210C-1991-4B5A-AF20-DAED5C75691A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0813" y="1143000"/>
            <a:ext cx="6556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3D8F1-FBE3-4B4A-A783-85DD64F10C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24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Scientific source: synthetic regression brief defined for this plugin test (B1–B6). Detail a: chunk and embed to prepare the index; online lookup and reranking yield passages. Detail b: assemble the question and evidence prompt, generate, parse cited claims, then compare every cited claim against its source span. One attempt is one draft/check cycle; at most three total attempts. All weights frozen. Retrieved content is evidence, never an instruction or a weight update. Logging is omitted as an implementation detail. Companion: examples/evidence-gated-overview/detail.md. No experimental data or numerical performance claims.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3D8F1-FBE3-4B4A-A783-85DD64F10CC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42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2E9B12-FB68-95C1-2D3E-720C82F38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977" y="471289"/>
            <a:ext cx="4589860" cy="1002571"/>
          </a:xfrm>
        </p:spPr>
        <p:txBody>
          <a:bodyPr anchor="b"/>
          <a:lstStyle>
            <a:lvl1pPr algn="ctr"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4E6E39-2891-38D5-8F15-C2E8BD271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977" y="1512522"/>
            <a:ext cx="4589860" cy="695267"/>
          </a:xfrm>
        </p:spPr>
        <p:txBody>
          <a:bodyPr/>
          <a:lstStyle>
            <a:lvl1pPr marL="0" indent="0" algn="ctr">
              <a:buNone/>
              <a:defRPr sz="506"/>
            </a:lvl1pPr>
            <a:lvl2pPr marL="96373" indent="0" algn="ctr">
              <a:buNone/>
              <a:defRPr sz="422"/>
            </a:lvl2pPr>
            <a:lvl3pPr marL="192746" indent="0" algn="ctr">
              <a:buNone/>
              <a:defRPr sz="380"/>
            </a:lvl3pPr>
            <a:lvl4pPr marL="289119" indent="0" algn="ctr">
              <a:buNone/>
              <a:defRPr sz="337"/>
            </a:lvl4pPr>
            <a:lvl5pPr marL="385493" indent="0" algn="ctr">
              <a:buNone/>
              <a:defRPr sz="337"/>
            </a:lvl5pPr>
            <a:lvl6pPr marL="481865" indent="0" algn="ctr">
              <a:buNone/>
              <a:defRPr sz="337"/>
            </a:lvl6pPr>
            <a:lvl7pPr marL="578238" indent="0" algn="ctr">
              <a:buNone/>
              <a:defRPr sz="337"/>
            </a:lvl7pPr>
            <a:lvl8pPr marL="674612" indent="0" algn="ctr">
              <a:buNone/>
              <a:defRPr sz="337"/>
            </a:lvl8pPr>
            <a:lvl9pPr marL="770985" indent="0" algn="ctr">
              <a:buNone/>
              <a:defRPr sz="337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7959A9-1EEE-D33D-A773-FA35ECFF5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A7793-8484-1610-FCC9-F3254E4B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8FD463-C190-A6FB-AE0F-E8F40E53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176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6DC1A-E58C-93D0-143B-B5224277D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3B3682-9A4A-7347-2E94-4BC26E4D2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872C7-21D9-F839-7726-E4C1456D4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1D085C-1DC0-7630-A5FC-BCB9BFBA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D12BBD-C938-D810-49CA-1DE45F84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960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4637B-5410-7470-C3AA-A0279245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51" y="717932"/>
            <a:ext cx="5278339" cy="1197885"/>
          </a:xfrm>
        </p:spPr>
        <p:txBody>
          <a:bodyPr anchor="b"/>
          <a:lstStyle>
            <a:lvl1pPr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8318EE-A965-F98E-A959-20F174A6D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551" y="1927150"/>
            <a:ext cx="5278339" cy="629940"/>
          </a:xfrm>
        </p:spPr>
        <p:txBody>
          <a:bodyPr/>
          <a:lstStyle>
            <a:lvl1pPr marL="0" indent="0">
              <a:buNone/>
              <a:defRPr sz="506">
                <a:solidFill>
                  <a:schemeClr val="tx1">
                    <a:tint val="82000"/>
                  </a:schemeClr>
                </a:solidFill>
              </a:defRPr>
            </a:lvl1pPr>
            <a:lvl2pPr marL="96373" indent="0">
              <a:buNone/>
              <a:defRPr sz="422">
                <a:solidFill>
                  <a:schemeClr val="tx1">
                    <a:tint val="82000"/>
                  </a:schemeClr>
                </a:solidFill>
              </a:defRPr>
            </a:lvl2pPr>
            <a:lvl3pPr marL="192746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3pPr>
            <a:lvl4pPr marL="289119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4pPr>
            <a:lvl5pPr marL="385493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5pPr>
            <a:lvl6pPr marL="48186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6pPr>
            <a:lvl7pPr marL="578238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7pPr>
            <a:lvl8pPr marL="674612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8pPr>
            <a:lvl9pPr marL="77098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7E1A3B-EF63-5C5A-28C5-79C450C78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8E5D70-7735-C8A3-9F89-F0F6DD8E5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6D7053-63E9-0103-6926-DA5D30084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36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766DA-35A3-6783-E221-EF23FFC2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5BDF73-602D-C39E-434A-685784023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738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D8C72-2A65-695D-3AF4-CF5F19642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98156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EFD41D-F3E9-399B-B2A0-E98C24A51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1C9F62-0D68-CFBE-A711-14AAA236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23BD79-696E-B33E-C431-752B35E7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636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02BF3-CF2C-AF21-E2A2-EF42EB964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53319"/>
            <a:ext cx="5278339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4A3411-2A68-7F20-815B-17C713BF5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534" y="705933"/>
            <a:ext cx="258896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EDE821-AEC5-4902-3945-06489FB1B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534" y="1051899"/>
            <a:ext cx="258896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0E9A69-80E8-B673-F990-3CF2697FD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98155" y="705933"/>
            <a:ext cx="260171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360F4A-2E34-9AD7-B6E0-3A0E27110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098155" y="1051899"/>
            <a:ext cx="260171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375003-9AF1-3432-2DE3-890F9D9D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BACE7C-C38D-91C8-3F66-1E3B0FE75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2C046E-5550-B6CC-9333-4DF33852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74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AC928-3AA7-6FBB-2C17-1D386A5F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D8CC60-4B3B-3E1B-B42F-481304E1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EAA343-7E3D-1E29-56FB-BEE74546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233EDF-32F7-C662-C7EE-C648DF71F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748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F73BF9-6325-A72D-9A4F-4E1A02080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C5BB07-9F34-4E85-C82A-4097A8896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5C89EA-9C84-27B1-E843-018F509D0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07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C8FE1-33FF-3B35-B511-232DA78C9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560D60-D54F-800D-B7F7-7F6FE6C24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>
              <a:defRPr sz="674"/>
            </a:lvl1pPr>
            <a:lvl2pPr>
              <a:defRPr sz="590"/>
            </a:lvl2pPr>
            <a:lvl3pPr>
              <a:defRPr sz="506"/>
            </a:lvl3pPr>
            <a:lvl4pPr>
              <a:defRPr sz="422"/>
            </a:lvl4pPr>
            <a:lvl5pPr>
              <a:defRPr sz="422"/>
            </a:lvl5pPr>
            <a:lvl6pPr>
              <a:defRPr sz="422"/>
            </a:lvl6pPr>
            <a:lvl7pPr>
              <a:defRPr sz="422"/>
            </a:lvl7pPr>
            <a:lvl8pPr>
              <a:defRPr sz="422"/>
            </a:lvl8pPr>
            <a:lvl9pPr>
              <a:defRPr sz="4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71D268-A3D6-764F-9C67-73AEC9290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A1644C-0839-9A55-D763-152AFB61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BED9A0-895E-53C8-E2F4-79761DEFD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F2B4F9-99D7-FB32-91B0-24DE5B43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56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61F2C-EA09-ED51-693C-FB6FA0B5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FF1BFE-2058-F7C2-BB9E-DA57830D1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 marL="0" indent="0">
              <a:buNone/>
              <a:defRPr sz="674"/>
            </a:lvl1pPr>
            <a:lvl2pPr marL="96373" indent="0">
              <a:buNone/>
              <a:defRPr sz="590"/>
            </a:lvl2pPr>
            <a:lvl3pPr marL="192746" indent="0">
              <a:buNone/>
              <a:defRPr sz="506"/>
            </a:lvl3pPr>
            <a:lvl4pPr marL="289119" indent="0">
              <a:buNone/>
              <a:defRPr sz="422"/>
            </a:lvl4pPr>
            <a:lvl5pPr marL="385493" indent="0">
              <a:buNone/>
              <a:defRPr sz="422"/>
            </a:lvl5pPr>
            <a:lvl6pPr marL="481865" indent="0">
              <a:buNone/>
              <a:defRPr sz="422"/>
            </a:lvl6pPr>
            <a:lvl7pPr marL="578238" indent="0">
              <a:buNone/>
              <a:defRPr sz="422"/>
            </a:lvl7pPr>
            <a:lvl8pPr marL="674612" indent="0">
              <a:buNone/>
              <a:defRPr sz="422"/>
            </a:lvl8pPr>
            <a:lvl9pPr marL="770985" indent="0">
              <a:buNone/>
              <a:defRPr sz="42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B7BEEE-9A78-B97C-CE77-32BA50819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D2A885-E907-7E88-5A50-4699278E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212463-F396-D3B6-B8E4-8B4B942E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8B8955-3934-7C91-D899-69D253EA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96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6CA75-1AAC-9CB4-F27D-164CF380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1C8B18-B572-9FDF-8DB8-B955ABD79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8D867C-79B8-753A-41D7-937E29B2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847301-15E8-2B8E-8096-2E81ACEA8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EA7F33-A763-ED6B-A19B-D4C54620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948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699CB3D-43DF-BBDC-9DF0-CD9C1ADEF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379492" y="153319"/>
            <a:ext cx="1319585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A36D3C-7681-E657-AE3D-4394FA85E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0737" y="153319"/>
            <a:ext cx="3882256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27C66-6ADC-CAB3-6FA2-DB819D6E8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557853-6054-9FDF-5503-89FCFFE5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60E26C-9999-0BD2-8064-0CAABB70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65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7821D5-528F-877A-EFD3-5B04762C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38" y="153319"/>
            <a:ext cx="5278339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F8989C-65F8-A1DD-82D4-67E8D7D46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738" y="766593"/>
            <a:ext cx="5278339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D3A2E4-D4D2-4B2F-D37E-25BCE79F3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737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C6BA44-1D30-4B8C-B44A-DA8C491CDC43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F4F139-A7B1-41C8-AB45-9C23F586F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189" y="2669079"/>
            <a:ext cx="206543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98C525-BD1A-FA90-A780-15A86EFE8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2118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BB9BF-2356-4995-9D49-8DA981A2C1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33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92746" rtl="0" eaLnBrk="1" latinLnBrk="0" hangingPunct="1">
        <a:lnSpc>
          <a:spcPct val="90000"/>
        </a:lnSpc>
        <a:spcBef>
          <a:spcPct val="0"/>
        </a:spcBef>
        <a:buNone/>
        <a:defRPr sz="9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186" indent="-48186" algn="l" defTabSz="192746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590" kern="1200">
          <a:solidFill>
            <a:schemeClr val="tx1"/>
          </a:solidFill>
          <a:latin typeface="+mn-lt"/>
          <a:ea typeface="+mn-ea"/>
          <a:cs typeface="+mn-cs"/>
        </a:defRPr>
      </a:lvl1pPr>
      <a:lvl2pPr marL="144560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6" kern="1200">
          <a:solidFill>
            <a:schemeClr val="tx1"/>
          </a:solidFill>
          <a:latin typeface="+mn-lt"/>
          <a:ea typeface="+mn-ea"/>
          <a:cs typeface="+mn-cs"/>
        </a:defRPr>
      </a:lvl2pPr>
      <a:lvl3pPr marL="240933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2" kern="1200">
          <a:solidFill>
            <a:schemeClr val="tx1"/>
          </a:solidFill>
          <a:latin typeface="+mn-lt"/>
          <a:ea typeface="+mn-ea"/>
          <a:cs typeface="+mn-cs"/>
        </a:defRPr>
      </a:lvl3pPr>
      <a:lvl4pPr marL="337306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433679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530052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626425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722798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819171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1pPr>
      <a:lvl2pPr marL="9637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2pPr>
      <a:lvl3pPr marL="192746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3pPr>
      <a:lvl4pPr marL="289119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38549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48186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578238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674612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77098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ozen_weights" descr="Evidence-gated overview; L2; frozen_weights">
            <a:extLst>
              <a:ext uri="{FF2B5EF4-FFF2-40B4-BE49-F238E27FC236}">
                <a16:creationId xmlns:a16="http://schemas.microsoft.com/office/drawing/2014/main" id="{A924807A-032F-AEF9-3C60-F116FC547BF2}"/>
              </a:ext>
            </a:extLst>
          </p:cNvPr>
          <p:cNvSpPr txBox="1"/>
          <p:nvPr/>
        </p:nvSpPr>
        <p:spPr>
          <a:xfrm>
            <a:off x="4284000" y="126000"/>
            <a:ext cx="1692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All model weights frozen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4" name="evidence_boundary" descr="Evidence-gated overview; L2; evidence_boundary">
            <a:extLst>
              <a:ext uri="{FF2B5EF4-FFF2-40B4-BE49-F238E27FC236}">
                <a16:creationId xmlns:a16="http://schemas.microsoft.com/office/drawing/2014/main" id="{0FDA5062-B287-EECE-85FB-4081695A38ED}"/>
              </a:ext>
            </a:extLst>
          </p:cNvPr>
          <p:cNvSpPr txBox="1"/>
          <p:nvPr/>
        </p:nvSpPr>
        <p:spPr>
          <a:xfrm>
            <a:off x="144000" y="432000"/>
            <a:ext cx="2160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40">
                <a:solidFill>
                  <a:srgbClr val="52636A"/>
                </a:solidFill>
                <a:latin typeface="Arial" panose="020B0604020202020204" pitchFamily="34" charset="0"/>
              </a:rPr>
              <a:t>Retrieved text is evidence.
Never instructions or weight updates.</a:t>
            </a:r>
            <a:endParaRPr lang="zh-CN" altLang="en-US" sz="74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" name="question" descr="Evidence-gated overview; L1; question">
            <a:extLst>
              <a:ext uri="{FF2B5EF4-FFF2-40B4-BE49-F238E27FC236}">
                <a16:creationId xmlns:a16="http://schemas.microsoft.com/office/drawing/2014/main" id="{B8A8BA18-96DD-0D9E-EF32-381847D9BD04}"/>
              </a:ext>
            </a:extLst>
          </p:cNvPr>
          <p:cNvSpPr/>
          <p:nvPr/>
        </p:nvSpPr>
        <p:spPr>
          <a:xfrm>
            <a:off x="144000" y="1116000"/>
            <a:ext cx="648000" cy="43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question_label" descr="Evidence-gated overview; L1; question_label">
            <a:extLst>
              <a:ext uri="{FF2B5EF4-FFF2-40B4-BE49-F238E27FC236}">
                <a16:creationId xmlns:a16="http://schemas.microsoft.com/office/drawing/2014/main" id="{E841CFEB-DCCF-8AC7-3DFB-C9FCDC3915C5}"/>
              </a:ext>
            </a:extLst>
          </p:cNvPr>
          <p:cNvSpPr txBox="1"/>
          <p:nvPr/>
        </p:nvSpPr>
        <p:spPr>
          <a:xfrm>
            <a:off x="180000" y="1159200"/>
            <a:ext cx="57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User
question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7" name="retrieve" descr="Evidence-gated overview; L1; retrieve">
            <a:extLst>
              <a:ext uri="{FF2B5EF4-FFF2-40B4-BE49-F238E27FC236}">
                <a16:creationId xmlns:a16="http://schemas.microsoft.com/office/drawing/2014/main" id="{1CF61A68-9AC3-C560-6A25-EB6BFAE08FEB}"/>
              </a:ext>
            </a:extLst>
          </p:cNvPr>
          <p:cNvSpPr/>
          <p:nvPr/>
        </p:nvSpPr>
        <p:spPr>
          <a:xfrm>
            <a:off x="1044000" y="1116000"/>
            <a:ext cx="864000" cy="432000"/>
          </a:xfrm>
          <a:prstGeom prst="rect">
            <a:avLst/>
          </a:prstGeom>
          <a:solidFill>
            <a:srgbClr val="F2F5F6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trieve_label" descr="Evidence-gated overview; L1; retrieve_label">
            <a:extLst>
              <a:ext uri="{FF2B5EF4-FFF2-40B4-BE49-F238E27FC236}">
                <a16:creationId xmlns:a16="http://schemas.microsoft.com/office/drawing/2014/main" id="{B9E50E8E-4A05-F21E-7A40-4862B8286B08}"/>
              </a:ext>
            </a:extLst>
          </p:cNvPr>
          <p:cNvSpPr txBox="1"/>
          <p:nvPr/>
        </p:nvSpPr>
        <p:spPr>
          <a:xfrm>
            <a:off x="1080000" y="1224000"/>
            <a:ext cx="792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900" b="1">
                <a:solidFill>
                  <a:srgbClr val="26363D"/>
                </a:solidFill>
                <a:latin typeface="Arial" panose="020B0604020202020204" pitchFamily="34" charset="0"/>
              </a:rPr>
              <a:t>Retrieve</a:t>
            </a:r>
            <a:endParaRPr lang="zh-CN" altLang="en-US" sz="9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9" name="draft" descr="Evidence-gated overview; L1; draft">
            <a:extLst>
              <a:ext uri="{FF2B5EF4-FFF2-40B4-BE49-F238E27FC236}">
                <a16:creationId xmlns:a16="http://schemas.microsoft.com/office/drawing/2014/main" id="{8F8F5E4A-2C22-5F06-FE49-19FE1CABFE88}"/>
              </a:ext>
            </a:extLst>
          </p:cNvPr>
          <p:cNvSpPr/>
          <p:nvPr/>
        </p:nvSpPr>
        <p:spPr>
          <a:xfrm>
            <a:off x="2196000" y="1080000"/>
            <a:ext cx="864000" cy="504000"/>
          </a:xfrm>
          <a:prstGeom prst="foldedCorner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draft_label" descr="Evidence-gated overview; L1; draft_label">
            <a:extLst>
              <a:ext uri="{FF2B5EF4-FFF2-40B4-BE49-F238E27FC236}">
                <a16:creationId xmlns:a16="http://schemas.microsoft.com/office/drawing/2014/main" id="{763EE6E5-011C-4088-5797-0C9BB3281300}"/>
              </a:ext>
            </a:extLst>
          </p:cNvPr>
          <p:cNvSpPr txBox="1"/>
          <p:nvPr/>
        </p:nvSpPr>
        <p:spPr>
          <a:xfrm>
            <a:off x="2232000" y="1224000"/>
            <a:ext cx="756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Draft / revise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11" name="source_spans" descr="Evidence-gated overview; L2; source_spans">
            <a:extLst>
              <a:ext uri="{FF2B5EF4-FFF2-40B4-BE49-F238E27FC236}">
                <a16:creationId xmlns:a16="http://schemas.microsoft.com/office/drawing/2014/main" id="{063957E3-4E4C-DC8A-3E87-2356C0976AFB}"/>
              </a:ext>
            </a:extLst>
          </p:cNvPr>
          <p:cNvSpPr/>
          <p:nvPr/>
        </p:nvSpPr>
        <p:spPr>
          <a:xfrm>
            <a:off x="2484000" y="432000"/>
            <a:ext cx="972000" cy="324000"/>
          </a:xfrm>
          <a:prstGeom prst="foldedCorner">
            <a:avLst/>
          </a:prstGeom>
          <a:solidFill>
            <a:srgbClr val="EAF3F0"/>
          </a:solidFill>
          <a:ln w="9525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ource_spans_label" descr="Evidence-gated overview; L2; source_spans_label">
            <a:extLst>
              <a:ext uri="{FF2B5EF4-FFF2-40B4-BE49-F238E27FC236}">
                <a16:creationId xmlns:a16="http://schemas.microsoft.com/office/drawing/2014/main" id="{A0EC20C4-B01D-9263-6907-041C9361C256}"/>
              </a:ext>
            </a:extLst>
          </p:cNvPr>
          <p:cNvSpPr txBox="1"/>
          <p:nvPr/>
        </p:nvSpPr>
        <p:spPr>
          <a:xfrm>
            <a:off x="2520000" y="504000"/>
            <a:ext cx="864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00">
                <a:solidFill>
                  <a:srgbClr val="12635F"/>
                </a:solidFill>
                <a:latin typeface="Arial" panose="020B0604020202020204" pitchFamily="34" charset="0"/>
              </a:rPr>
              <a:t>Source spans</a:t>
            </a:r>
            <a:endParaRPr lang="zh-CN" altLang="en-US" sz="80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3" name="evidence_gate" descr="Evidence-gated overview; L1; evidence_gate">
            <a:extLst>
              <a:ext uri="{FF2B5EF4-FFF2-40B4-BE49-F238E27FC236}">
                <a16:creationId xmlns:a16="http://schemas.microsoft.com/office/drawing/2014/main" id="{7661A44D-AA05-D65B-D611-DE2A8141BD15}"/>
              </a:ext>
            </a:extLst>
          </p:cNvPr>
          <p:cNvSpPr/>
          <p:nvPr/>
        </p:nvSpPr>
        <p:spPr>
          <a:xfrm>
            <a:off x="3456000" y="936000"/>
            <a:ext cx="792000" cy="792000"/>
          </a:xfrm>
          <a:prstGeom prst="ellipse">
            <a:avLst/>
          </a:prstGeom>
          <a:solidFill>
            <a:srgbClr val="12635F"/>
          </a:solidFill>
          <a:ln w="1270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gate_label" descr="Evidence-gated overview; L1; gate_label">
            <a:extLst>
              <a:ext uri="{FF2B5EF4-FFF2-40B4-BE49-F238E27FC236}">
                <a16:creationId xmlns:a16="http://schemas.microsoft.com/office/drawing/2014/main" id="{4C27D392-FDF8-33A4-E891-1309D94FA444}"/>
              </a:ext>
            </a:extLst>
          </p:cNvPr>
          <p:cNvSpPr txBox="1"/>
          <p:nvPr/>
        </p:nvSpPr>
        <p:spPr>
          <a:xfrm>
            <a:off x="3484800" y="684000"/>
            <a:ext cx="1080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1000" b="1">
                <a:solidFill>
                  <a:srgbClr val="12635F"/>
                </a:solidFill>
                <a:latin typeface="Arial" panose="020B0604020202020204" pitchFamily="34" charset="0"/>
              </a:rPr>
              <a:t>Evidence check</a:t>
            </a:r>
            <a:endParaRPr lang="zh-CN" altLang="en-US" sz="100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5" name="gate_claim_strip" descr="Evidence-gated overview; L1; gate_claim_strip">
            <a:extLst>
              <a:ext uri="{FF2B5EF4-FFF2-40B4-BE49-F238E27FC236}">
                <a16:creationId xmlns:a16="http://schemas.microsoft.com/office/drawing/2014/main" id="{6D21D83C-1443-371E-19AB-D73B661598AB}"/>
              </a:ext>
            </a:extLst>
          </p:cNvPr>
          <p:cNvSpPr/>
          <p:nvPr/>
        </p:nvSpPr>
        <p:spPr>
          <a:xfrm>
            <a:off x="3567600" y="10944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gate_claim_text" descr="Evidence-gated overview; L1; gate_claim_text">
            <a:extLst>
              <a:ext uri="{FF2B5EF4-FFF2-40B4-BE49-F238E27FC236}">
                <a16:creationId xmlns:a16="http://schemas.microsoft.com/office/drawing/2014/main" id="{C5E66E29-0149-59D2-0442-21A3E3ECCA80}"/>
              </a:ext>
            </a:extLst>
          </p:cNvPr>
          <p:cNvSpPr txBox="1"/>
          <p:nvPr/>
        </p:nvSpPr>
        <p:spPr>
          <a:xfrm>
            <a:off x="3600000" y="10998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claim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7" name="gate_span_strip" descr="Evidence-gated overview; L1; gate_span_strip">
            <a:extLst>
              <a:ext uri="{FF2B5EF4-FFF2-40B4-BE49-F238E27FC236}">
                <a16:creationId xmlns:a16="http://schemas.microsoft.com/office/drawing/2014/main" id="{72EE289C-2A3D-A894-699A-BAE12C44FF4E}"/>
              </a:ext>
            </a:extLst>
          </p:cNvPr>
          <p:cNvSpPr/>
          <p:nvPr/>
        </p:nvSpPr>
        <p:spPr>
          <a:xfrm>
            <a:off x="3567600" y="14400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gate_span_text" descr="Evidence-gated overview; L1; gate_span_text">
            <a:extLst>
              <a:ext uri="{FF2B5EF4-FFF2-40B4-BE49-F238E27FC236}">
                <a16:creationId xmlns:a16="http://schemas.microsoft.com/office/drawing/2014/main" id="{D4819905-B7A8-1A47-D4AA-DCFC7CD26A3A}"/>
              </a:ext>
            </a:extLst>
          </p:cNvPr>
          <p:cNvSpPr txBox="1"/>
          <p:nvPr/>
        </p:nvSpPr>
        <p:spPr>
          <a:xfrm>
            <a:off x="3600000" y="14436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span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glyph_claim_span_link">
            <a:extLst>
              <a:ext uri="{FF2B5EF4-FFF2-40B4-BE49-F238E27FC236}">
                <a16:creationId xmlns:a16="http://schemas.microsoft.com/office/drawing/2014/main" id="{0CEC4948-EA3D-DA61-C3D7-A6A783429EA7}"/>
              </a:ext>
            </a:extLst>
          </p:cNvPr>
          <p:cNvCxnSpPr/>
          <p:nvPr/>
        </p:nvCxnSpPr>
        <p:spPr>
          <a:xfrm>
            <a:off x="3672000" y="1256400"/>
            <a:ext cx="0" cy="165600"/>
          </a:xfrm>
          <a:prstGeom prst="straightConnector1">
            <a:avLst/>
          </a:prstGeom>
          <a:ln w="101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lyph_check_short">
            <a:extLst>
              <a:ext uri="{FF2B5EF4-FFF2-40B4-BE49-F238E27FC236}">
                <a16:creationId xmlns:a16="http://schemas.microsoft.com/office/drawing/2014/main" id="{3B078AF3-E4E2-7BA9-76A9-00BE0AC2DAC4}"/>
              </a:ext>
            </a:extLst>
          </p:cNvPr>
          <p:cNvCxnSpPr/>
          <p:nvPr/>
        </p:nvCxnSpPr>
        <p:spPr>
          <a:xfrm>
            <a:off x="3823200" y="1303200"/>
            <a:ext cx="90000" cy="828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lyph_check_long">
            <a:extLst>
              <a:ext uri="{FF2B5EF4-FFF2-40B4-BE49-F238E27FC236}">
                <a16:creationId xmlns:a16="http://schemas.microsoft.com/office/drawing/2014/main" id="{8F85844B-9B1B-394F-F5F0-E557C74A8AC7}"/>
              </a:ext>
            </a:extLst>
          </p:cNvPr>
          <p:cNvCxnSpPr/>
          <p:nvPr/>
        </p:nvCxnSpPr>
        <p:spPr>
          <a:xfrm flipV="1">
            <a:off x="3913200" y="1209600"/>
            <a:ext cx="176400" cy="1764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upported_answer" descr="Evidence-gated overview; L1; supported_answer">
            <a:extLst>
              <a:ext uri="{FF2B5EF4-FFF2-40B4-BE49-F238E27FC236}">
                <a16:creationId xmlns:a16="http://schemas.microsoft.com/office/drawing/2014/main" id="{B80A0EEA-8043-4E2A-51CD-B5F6937947B8}"/>
              </a:ext>
            </a:extLst>
          </p:cNvPr>
          <p:cNvSpPr/>
          <p:nvPr/>
        </p:nvSpPr>
        <p:spPr>
          <a:xfrm>
            <a:off x="5148000" y="1044000"/>
            <a:ext cx="828000" cy="540000"/>
          </a:xfrm>
          <a:prstGeom prst="flowChartDocument">
            <a:avLst/>
          </a:prstGeom>
          <a:solidFill>
            <a:srgbClr val="EAF3F0"/>
          </a:solidFill>
          <a:ln w="1143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answer_label" descr="Evidence-gated overview; L1; answer_label">
            <a:extLst>
              <a:ext uri="{FF2B5EF4-FFF2-40B4-BE49-F238E27FC236}">
                <a16:creationId xmlns:a16="http://schemas.microsoft.com/office/drawing/2014/main" id="{ED3194EA-5F8A-5859-51B8-91C7FCAA9E23}"/>
              </a:ext>
            </a:extLst>
          </p:cNvPr>
          <p:cNvSpPr txBox="1"/>
          <p:nvPr/>
        </p:nvSpPr>
        <p:spPr>
          <a:xfrm>
            <a:off x="5184000" y="1116000"/>
            <a:ext cx="75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12635F"/>
                </a:solidFill>
                <a:latin typeface="Arial" panose="020B0604020202020204" pitchFamily="34" charset="0"/>
              </a:rPr>
              <a:t>Answer
+ citations</a:t>
            </a:r>
            <a:endParaRPr lang="zh-CN" altLang="en-US" sz="86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24" name="abstain" descr="Evidence-gated overview; L1; abstain">
            <a:extLst>
              <a:ext uri="{FF2B5EF4-FFF2-40B4-BE49-F238E27FC236}">
                <a16:creationId xmlns:a16="http://schemas.microsoft.com/office/drawing/2014/main" id="{3735C336-C74A-59EF-E399-C55F88575457}"/>
              </a:ext>
            </a:extLst>
          </p:cNvPr>
          <p:cNvSpPr/>
          <p:nvPr/>
        </p:nvSpPr>
        <p:spPr>
          <a:xfrm>
            <a:off x="5148000" y="1728000"/>
            <a:ext cx="828000" cy="360000"/>
          </a:xfrm>
          <a:prstGeom prst="octagon">
            <a:avLst/>
          </a:prstGeom>
          <a:solidFill>
            <a:srgbClr val="FAF0EB"/>
          </a:solidFill>
          <a:ln w="11430">
            <a:solidFill>
              <a:srgbClr val="9B4D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abstain_label" descr="Evidence-gated overview; L1; abstain_label">
            <a:extLst>
              <a:ext uri="{FF2B5EF4-FFF2-40B4-BE49-F238E27FC236}">
                <a16:creationId xmlns:a16="http://schemas.microsoft.com/office/drawing/2014/main" id="{EA28E8DA-605A-E668-EC3B-6D3B2937B972}"/>
              </a:ext>
            </a:extLst>
          </p:cNvPr>
          <p:cNvSpPr txBox="1"/>
          <p:nvPr/>
        </p:nvSpPr>
        <p:spPr>
          <a:xfrm>
            <a:off x="5220000" y="1800000"/>
            <a:ext cx="684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9B4D32"/>
                </a:solidFill>
                <a:latin typeface="Arial" panose="020B0604020202020204" pitchFamily="34" charset="0"/>
              </a:rPr>
              <a:t>Abstain</a:t>
            </a:r>
            <a:endParaRPr lang="zh-CN" altLang="en-US" sz="860" b="1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cxnSp>
        <p:nvCxnSpPr>
          <p:cNvPr id="26" name="question_to_retrieve">
            <a:extLst>
              <a:ext uri="{FF2B5EF4-FFF2-40B4-BE49-F238E27FC236}">
                <a16:creationId xmlns:a16="http://schemas.microsoft.com/office/drawing/2014/main" id="{303CD1FB-7E22-3F05-35C7-FF9FEF5C87C0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92000" y="1332000"/>
            <a:ext cx="252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passages_to_draft">
            <a:extLst>
              <a:ext uri="{FF2B5EF4-FFF2-40B4-BE49-F238E27FC236}">
                <a16:creationId xmlns:a16="http://schemas.microsoft.com/office/drawing/2014/main" id="{7ED2BE52-2494-9561-CF0A-2BE0A423CABC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908000" y="1332000"/>
            <a:ext cx="288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laims_to_gate">
            <a:extLst>
              <a:ext uri="{FF2B5EF4-FFF2-40B4-BE49-F238E27FC236}">
                <a16:creationId xmlns:a16="http://schemas.microsoft.com/office/drawing/2014/main" id="{2CF92D4A-12B2-AE08-0FC6-6FA59D67932A}"/>
              </a:ext>
            </a:extLst>
          </p:cNvPr>
          <p:cNvCxnSpPr>
            <a:cxnSpLocks/>
            <a:stCxn id="9" idx="3"/>
            <a:endCxn id="13" idx="2"/>
          </p:cNvCxnSpPr>
          <p:nvPr/>
        </p:nvCxnSpPr>
        <p:spPr>
          <a:xfrm>
            <a:off x="3060000" y="1332000"/>
            <a:ext cx="396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trieve_to_spans__1">
            <a:extLst>
              <a:ext uri="{FF2B5EF4-FFF2-40B4-BE49-F238E27FC236}">
                <a16:creationId xmlns:a16="http://schemas.microsoft.com/office/drawing/2014/main" id="{39D249ED-DB44-F7A5-DB05-B38A9B21AE2D}"/>
              </a:ext>
            </a:extLst>
          </p:cNvPr>
          <p:cNvCxnSpPr/>
          <p:nvPr/>
        </p:nvCxnSpPr>
        <p:spPr>
          <a:xfrm flipV="1">
            <a:off x="1476000" y="828000"/>
            <a:ext cx="0" cy="288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trieve_to_spans__2">
            <a:extLst>
              <a:ext uri="{FF2B5EF4-FFF2-40B4-BE49-F238E27FC236}">
                <a16:creationId xmlns:a16="http://schemas.microsoft.com/office/drawing/2014/main" id="{3E63E67C-80E5-D3A8-13C4-20010368E175}"/>
              </a:ext>
            </a:extLst>
          </p:cNvPr>
          <p:cNvCxnSpPr/>
          <p:nvPr/>
        </p:nvCxnSpPr>
        <p:spPr>
          <a:xfrm>
            <a:off x="1476000" y="828000"/>
            <a:ext cx="1494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trieve_to_spans__3">
            <a:extLst>
              <a:ext uri="{FF2B5EF4-FFF2-40B4-BE49-F238E27FC236}">
                <a16:creationId xmlns:a16="http://schemas.microsoft.com/office/drawing/2014/main" id="{78B8226E-6F02-3703-1165-0BF91AFB806F}"/>
              </a:ext>
            </a:extLst>
          </p:cNvPr>
          <p:cNvCxnSpPr/>
          <p:nvPr/>
        </p:nvCxnSpPr>
        <p:spPr>
          <a:xfrm flipV="1">
            <a:off x="2970000" y="756000"/>
            <a:ext cx="0" cy="72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pans_to_gate__1">
            <a:extLst>
              <a:ext uri="{FF2B5EF4-FFF2-40B4-BE49-F238E27FC236}">
                <a16:creationId xmlns:a16="http://schemas.microsoft.com/office/drawing/2014/main" id="{EF0BBE67-1C74-191A-F776-CC4899C940D7}"/>
              </a:ext>
            </a:extLst>
          </p:cNvPr>
          <p:cNvCxnSpPr/>
          <p:nvPr/>
        </p:nvCxnSpPr>
        <p:spPr>
          <a:xfrm>
            <a:off x="3456000" y="594000"/>
            <a:ext cx="1152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pans_to_gate__2">
            <a:extLst>
              <a:ext uri="{FF2B5EF4-FFF2-40B4-BE49-F238E27FC236}">
                <a16:creationId xmlns:a16="http://schemas.microsoft.com/office/drawing/2014/main" id="{D7D0DACE-B3CE-2A98-AF04-BD39D034D89D}"/>
              </a:ext>
            </a:extLst>
          </p:cNvPr>
          <p:cNvCxnSpPr/>
          <p:nvPr/>
        </p:nvCxnSpPr>
        <p:spPr>
          <a:xfrm>
            <a:off x="4608000" y="594000"/>
            <a:ext cx="0" cy="306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pans_to_gate__3">
            <a:extLst>
              <a:ext uri="{FF2B5EF4-FFF2-40B4-BE49-F238E27FC236}">
                <a16:creationId xmlns:a16="http://schemas.microsoft.com/office/drawing/2014/main" id="{B8A2A8EB-7A52-00A7-4133-C9AC0FD9A18E}"/>
              </a:ext>
            </a:extLst>
          </p:cNvPr>
          <p:cNvCxnSpPr/>
          <p:nvPr/>
        </p:nvCxnSpPr>
        <p:spPr>
          <a:xfrm flipH="1">
            <a:off x="3852000" y="900000"/>
            <a:ext cx="756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pans_to_gate__4">
            <a:extLst>
              <a:ext uri="{FF2B5EF4-FFF2-40B4-BE49-F238E27FC236}">
                <a16:creationId xmlns:a16="http://schemas.microsoft.com/office/drawing/2014/main" id="{D2BC9F6D-E9DB-EF68-469F-9619640CFEC5}"/>
              </a:ext>
            </a:extLst>
          </p:cNvPr>
          <p:cNvCxnSpPr/>
          <p:nvPr/>
        </p:nvCxnSpPr>
        <p:spPr>
          <a:xfrm>
            <a:off x="3852000" y="900000"/>
            <a:ext cx="0" cy="36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upported_branch">
            <a:extLst>
              <a:ext uri="{FF2B5EF4-FFF2-40B4-BE49-F238E27FC236}">
                <a16:creationId xmlns:a16="http://schemas.microsoft.com/office/drawing/2014/main" id="{3D02E108-607F-AE84-F9F6-0E121F3D3510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4248000" y="1332000"/>
            <a:ext cx="900000" cy="0"/>
          </a:xfrm>
          <a:prstGeom prst="straightConnector1">
            <a:avLst/>
          </a:prstGeom>
          <a:ln w="1397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upported_condition" descr="Evidence-gated overview; L2; supported_condition">
            <a:extLst>
              <a:ext uri="{FF2B5EF4-FFF2-40B4-BE49-F238E27FC236}">
                <a16:creationId xmlns:a16="http://schemas.microsoft.com/office/drawing/2014/main" id="{DDF77B02-649E-AA2C-DAB3-49D12EDBC956}"/>
              </a:ext>
            </a:extLst>
          </p:cNvPr>
          <p:cNvSpPr txBox="1"/>
          <p:nvPr/>
        </p:nvSpPr>
        <p:spPr>
          <a:xfrm>
            <a:off x="4323600" y="1011600"/>
            <a:ext cx="792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12635F"/>
                </a:solidFill>
                <a:latin typeface="Arial" panose="020B0604020202020204" pitchFamily="34" charset="0"/>
              </a:rPr>
              <a:t>All cited claims
supported</a:t>
            </a:r>
            <a:endParaRPr lang="zh-CN" altLang="en-US" sz="72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38" name="unsupported_stem">
            <a:extLst>
              <a:ext uri="{FF2B5EF4-FFF2-40B4-BE49-F238E27FC236}">
                <a16:creationId xmlns:a16="http://schemas.microsoft.com/office/drawing/2014/main" id="{59CBAB93-949B-5CD5-1932-91F6B38BC2F4}"/>
              </a:ext>
            </a:extLst>
          </p:cNvPr>
          <p:cNvCxnSpPr/>
          <p:nvPr/>
        </p:nvCxnSpPr>
        <p:spPr>
          <a:xfrm>
            <a:off x="3852000" y="1728000"/>
            <a:ext cx="0" cy="18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unsupported_junction" descr="Evidence-gated overview; L2; unsupported_junction">
            <a:extLst>
              <a:ext uri="{FF2B5EF4-FFF2-40B4-BE49-F238E27FC236}">
                <a16:creationId xmlns:a16="http://schemas.microsoft.com/office/drawing/2014/main" id="{07FB9FFE-86DF-6C91-21B9-AAC7F0276775}"/>
              </a:ext>
            </a:extLst>
          </p:cNvPr>
          <p:cNvSpPr/>
          <p:nvPr/>
        </p:nvSpPr>
        <p:spPr>
          <a:xfrm>
            <a:off x="3830400" y="1886400"/>
            <a:ext cx="43200" cy="43200"/>
          </a:xfrm>
          <a:prstGeom prst="ellipse">
            <a:avLst/>
          </a:prstGeom>
          <a:solidFill>
            <a:srgbClr val="9B4D32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9B4D3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retry_branch__1">
            <a:extLst>
              <a:ext uri="{FF2B5EF4-FFF2-40B4-BE49-F238E27FC236}">
                <a16:creationId xmlns:a16="http://schemas.microsoft.com/office/drawing/2014/main" id="{068AC080-6979-25D9-7DB7-C621EB2DACC4}"/>
              </a:ext>
            </a:extLst>
          </p:cNvPr>
          <p:cNvCxnSpPr/>
          <p:nvPr/>
        </p:nvCxnSpPr>
        <p:spPr>
          <a:xfrm flipH="1">
            <a:off x="1476000" y="1908000"/>
            <a:ext cx="2376000" cy="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try_branch__2">
            <a:extLst>
              <a:ext uri="{FF2B5EF4-FFF2-40B4-BE49-F238E27FC236}">
                <a16:creationId xmlns:a16="http://schemas.microsoft.com/office/drawing/2014/main" id="{3E72F907-8DBE-A744-3A4F-C9C0B6373E02}"/>
              </a:ext>
            </a:extLst>
          </p:cNvPr>
          <p:cNvCxnSpPr/>
          <p:nvPr/>
        </p:nvCxnSpPr>
        <p:spPr>
          <a:xfrm flipV="1">
            <a:off x="1476000" y="1548000"/>
            <a:ext cx="0" cy="36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abstain_branch">
            <a:extLst>
              <a:ext uri="{FF2B5EF4-FFF2-40B4-BE49-F238E27FC236}">
                <a16:creationId xmlns:a16="http://schemas.microsoft.com/office/drawing/2014/main" id="{03DDC18A-9E7E-F6C0-586B-BB4ABE52AA7C}"/>
              </a:ext>
            </a:extLst>
          </p:cNvPr>
          <p:cNvCxnSpPr/>
          <p:nvPr/>
        </p:nvCxnSpPr>
        <p:spPr>
          <a:xfrm>
            <a:off x="3852000" y="1908000"/>
            <a:ext cx="1296000" cy="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try_condition" descr="Evidence-gated overview; L2; retry_condition">
            <a:extLst>
              <a:ext uri="{FF2B5EF4-FFF2-40B4-BE49-F238E27FC236}">
                <a16:creationId xmlns:a16="http://schemas.microsoft.com/office/drawing/2014/main" id="{73AEA3D6-8959-9318-6DA4-FCFB4840C034}"/>
              </a:ext>
            </a:extLst>
          </p:cNvPr>
          <p:cNvSpPr txBox="1"/>
          <p:nvPr/>
        </p:nvSpPr>
        <p:spPr>
          <a:xfrm>
            <a:off x="1692000" y="1717200"/>
            <a:ext cx="1764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9B4D32"/>
                </a:solidFill>
                <a:latin typeface="Arial" panose="020B0604020202020204" pitchFamily="34" charset="0"/>
              </a:rPr>
              <a:t>Unsupported, attempt &lt; 3</a:t>
            </a:r>
            <a:endParaRPr lang="zh-CN" altLang="en-US" sz="75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try_action" descr="Evidence-gated overview; L2; retry_action">
            <a:extLst>
              <a:ext uri="{FF2B5EF4-FFF2-40B4-BE49-F238E27FC236}">
                <a16:creationId xmlns:a16="http://schemas.microsoft.com/office/drawing/2014/main" id="{FDC8F37C-1D9F-48A0-5496-7876E26F9D4B}"/>
              </a:ext>
            </a:extLst>
          </p:cNvPr>
          <p:cNvSpPr txBox="1"/>
          <p:nvPr/>
        </p:nvSpPr>
        <p:spPr>
          <a:xfrm>
            <a:off x="1674000" y="1954800"/>
            <a:ext cx="2088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30">
                <a:solidFill>
                  <a:srgbClr val="9B4D32"/>
                </a:solidFill>
                <a:latin typeface="Arial" panose="020B0604020202020204" pitchFamily="34" charset="0"/>
              </a:rPr>
              <a:t>Retrieve more evidence, then revise</a:t>
            </a:r>
            <a:endParaRPr lang="zh-CN" altLang="en-US" sz="73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5" name="abstain_condition" descr="Evidence-gated overview; L2; abstain_condition">
            <a:extLst>
              <a:ext uri="{FF2B5EF4-FFF2-40B4-BE49-F238E27FC236}">
                <a16:creationId xmlns:a16="http://schemas.microsoft.com/office/drawing/2014/main" id="{E9D6F495-1525-7B22-3423-4CB8D01125CB}"/>
              </a:ext>
            </a:extLst>
          </p:cNvPr>
          <p:cNvSpPr txBox="1"/>
          <p:nvPr/>
        </p:nvSpPr>
        <p:spPr>
          <a:xfrm>
            <a:off x="4212000" y="1591200"/>
            <a:ext cx="900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9B4D32"/>
                </a:solidFill>
                <a:latin typeface="Arial" panose="020B0604020202020204" pitchFamily="34" charset="0"/>
              </a:rPr>
              <a:t>Unsupported
at attempt 3</a:t>
            </a:r>
            <a:endParaRPr lang="zh-CN" altLang="en-US" sz="72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6" name="detail_ref_a" descr="Evidence-gated overview; L3; detail_ref_a">
            <a:extLst>
              <a:ext uri="{FF2B5EF4-FFF2-40B4-BE49-F238E27FC236}">
                <a16:creationId xmlns:a16="http://schemas.microsoft.com/office/drawing/2014/main" id="{1B0EB74E-021A-1D7B-EE21-EF4315BB614D}"/>
              </a:ext>
            </a:extLst>
          </p:cNvPr>
          <p:cNvSpPr txBox="1"/>
          <p:nvPr/>
        </p:nvSpPr>
        <p:spPr>
          <a:xfrm>
            <a:off x="1800000" y="972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a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47" name="detail_ref_b_draft" descr="Evidence-gated overview; L3; detail_ref_b_draft">
            <a:extLst>
              <a:ext uri="{FF2B5EF4-FFF2-40B4-BE49-F238E27FC236}">
                <a16:creationId xmlns:a16="http://schemas.microsoft.com/office/drawing/2014/main" id="{B66BE4E6-E227-7EFF-0910-589517E95BF9}"/>
              </a:ext>
            </a:extLst>
          </p:cNvPr>
          <p:cNvSpPr txBox="1"/>
          <p:nvPr/>
        </p:nvSpPr>
        <p:spPr>
          <a:xfrm>
            <a:off x="2952000" y="936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b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48" name="detail_ref_b_gate" descr="Evidence-gated overview; L3; detail_ref_b_gate">
            <a:extLst>
              <a:ext uri="{FF2B5EF4-FFF2-40B4-BE49-F238E27FC236}">
                <a16:creationId xmlns:a16="http://schemas.microsoft.com/office/drawing/2014/main" id="{14F2A687-6A9D-F78F-690E-0CD0697E1930}"/>
              </a:ext>
            </a:extLst>
          </p:cNvPr>
          <p:cNvSpPr txBox="1"/>
          <p:nvPr/>
        </p:nvSpPr>
        <p:spPr>
          <a:xfrm>
            <a:off x="4492800" y="630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b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cxnSp>
        <p:nvCxnSpPr>
          <p:cNvPr id="49" name="detail_separator_a">
            <a:extLst>
              <a:ext uri="{FF2B5EF4-FFF2-40B4-BE49-F238E27FC236}">
                <a16:creationId xmlns:a16="http://schemas.microsoft.com/office/drawing/2014/main" id="{5C7444D7-AA79-45C5-7C9F-062082959DB2}"/>
              </a:ext>
            </a:extLst>
          </p:cNvPr>
          <p:cNvCxnSpPr/>
          <p:nvPr/>
        </p:nvCxnSpPr>
        <p:spPr>
          <a:xfrm>
            <a:off x="144000" y="2196000"/>
            <a:ext cx="2736000" cy="0"/>
          </a:xfrm>
          <a:prstGeom prst="straightConnector1">
            <a:avLst/>
          </a:prstGeom>
          <a:ln w="5715">
            <a:solidFill>
              <a:srgbClr val="A6B4B9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detail_separator_b">
            <a:extLst>
              <a:ext uri="{FF2B5EF4-FFF2-40B4-BE49-F238E27FC236}">
                <a16:creationId xmlns:a16="http://schemas.microsoft.com/office/drawing/2014/main" id="{A241F708-F6C9-04A0-9DDA-A261E78F12F5}"/>
              </a:ext>
            </a:extLst>
          </p:cNvPr>
          <p:cNvCxnSpPr/>
          <p:nvPr/>
        </p:nvCxnSpPr>
        <p:spPr>
          <a:xfrm>
            <a:off x="3204000" y="2196000"/>
            <a:ext cx="2772000" cy="0"/>
          </a:xfrm>
          <a:prstGeom prst="straightConnector1">
            <a:avLst/>
          </a:prstGeom>
          <a:ln w="5715">
            <a:solidFill>
              <a:srgbClr val="A6B4B9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etail_a_heading" descr="Evidence-gated overview; L3; detail_a_heading">
            <a:extLst>
              <a:ext uri="{FF2B5EF4-FFF2-40B4-BE49-F238E27FC236}">
                <a16:creationId xmlns:a16="http://schemas.microsoft.com/office/drawing/2014/main" id="{C50BE611-9F5E-7D24-FE62-BA0F0F3D617D}"/>
              </a:ext>
            </a:extLst>
          </p:cNvPr>
          <p:cNvSpPr txBox="1"/>
          <p:nvPr/>
        </p:nvSpPr>
        <p:spPr>
          <a:xfrm>
            <a:off x="144000" y="2232000"/>
            <a:ext cx="2736000" cy="158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a  Retrieval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52" name="detail_a_prepare" descr="Evidence-gated overview; L3; detail_a_prepare">
            <a:extLst>
              <a:ext uri="{FF2B5EF4-FFF2-40B4-BE49-F238E27FC236}">
                <a16:creationId xmlns:a16="http://schemas.microsoft.com/office/drawing/2014/main" id="{A70ACE9D-732B-4CFE-B30F-5A8739658AC4}"/>
              </a:ext>
            </a:extLst>
          </p:cNvPr>
          <p:cNvSpPr txBox="1"/>
          <p:nvPr/>
        </p:nvSpPr>
        <p:spPr>
          <a:xfrm>
            <a:off x="144000" y="2412000"/>
            <a:ext cx="2736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52636A"/>
                </a:solidFill>
                <a:latin typeface="Arial" panose="020B0604020202020204" pitchFamily="34" charset="0"/>
              </a:rPr>
              <a:t>Prepare: chunk → embed → index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3" name="detail_a_online" descr="Evidence-gated overview; L3; detail_a_online">
            <a:extLst>
              <a:ext uri="{FF2B5EF4-FFF2-40B4-BE49-F238E27FC236}">
                <a16:creationId xmlns:a16="http://schemas.microsoft.com/office/drawing/2014/main" id="{F4D31FBF-A87E-2298-88B4-9CEA9C90AD93}"/>
              </a:ext>
            </a:extLst>
          </p:cNvPr>
          <p:cNvSpPr txBox="1"/>
          <p:nvPr/>
        </p:nvSpPr>
        <p:spPr>
          <a:xfrm>
            <a:off x="144000" y="2592000"/>
            <a:ext cx="2736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50">
                <a:solidFill>
                  <a:srgbClr val="52636A"/>
                </a:solidFill>
                <a:latin typeface="Arial" panose="020B0604020202020204" pitchFamily="34" charset="0"/>
              </a:rPr>
              <a:t>Online: index lookup → rerank → passages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4" name="detail_b_heading" descr="Evidence-gated overview; L3; detail_b_heading">
            <a:extLst>
              <a:ext uri="{FF2B5EF4-FFF2-40B4-BE49-F238E27FC236}">
                <a16:creationId xmlns:a16="http://schemas.microsoft.com/office/drawing/2014/main" id="{BD20F212-1629-CA14-6FCB-DC2E72505AC1}"/>
              </a:ext>
            </a:extLst>
          </p:cNvPr>
          <p:cNvSpPr txBox="1"/>
          <p:nvPr/>
        </p:nvSpPr>
        <p:spPr>
          <a:xfrm>
            <a:off x="3204000" y="2232000"/>
            <a:ext cx="2772000" cy="158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b  Drafting and checking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55" name="detail_b_draft" descr="Evidence-gated overview; L3; detail_b_draft">
            <a:extLst>
              <a:ext uri="{FF2B5EF4-FFF2-40B4-BE49-F238E27FC236}">
                <a16:creationId xmlns:a16="http://schemas.microsoft.com/office/drawing/2014/main" id="{5EC448DA-74D4-2BD4-0B27-3B3F81598869}"/>
              </a:ext>
            </a:extLst>
          </p:cNvPr>
          <p:cNvSpPr txBox="1"/>
          <p:nvPr/>
        </p:nvSpPr>
        <p:spPr>
          <a:xfrm>
            <a:off x="3204000" y="2412000"/>
            <a:ext cx="2772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52636A"/>
                </a:solidFill>
                <a:latin typeface="Arial" panose="020B0604020202020204" pitchFamily="34" charset="0"/>
              </a:rPr>
              <a:t>Assemble prompt → generate → parse claims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6" name="detail_b_check" descr="Evidence-gated overview; L3; detail_b_check">
            <a:extLst>
              <a:ext uri="{FF2B5EF4-FFF2-40B4-BE49-F238E27FC236}">
                <a16:creationId xmlns:a16="http://schemas.microsoft.com/office/drawing/2014/main" id="{87EAAEF8-EF93-1BFD-5F40-7FC25503D466}"/>
              </a:ext>
            </a:extLst>
          </p:cNvPr>
          <p:cNvSpPr txBox="1"/>
          <p:nvPr/>
        </p:nvSpPr>
        <p:spPr>
          <a:xfrm>
            <a:off x="3204000" y="2592000"/>
            <a:ext cx="2772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50">
                <a:solidFill>
                  <a:srgbClr val="52636A"/>
                </a:solidFill>
                <a:latin typeface="Arial" panose="020B0604020202020204" pitchFamily="34" charset="0"/>
              </a:rPr>
              <a:t>Each cited claim + source span → support check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919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自定义</PresentationFormat>
  <Paragraphs>27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 Yuan</dc:creator>
  <cp:lastModifiedBy>Feng Yuan</cp:lastModifiedBy>
  <cp:revision>1</cp:revision>
  <dcterms:created xsi:type="dcterms:W3CDTF">2026-09-05T10:13:37Z</dcterms:created>
  <dcterms:modified xsi:type="dcterms:W3CDTF">2026-09-05T10:13:37Z</dcterms:modified>
</cp:coreProperties>
</file>