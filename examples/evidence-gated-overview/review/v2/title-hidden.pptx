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119813" cy="28797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DE3FE-1220-4695-A9B8-3FD8F8439471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0813" y="1143000"/>
            <a:ext cx="65563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D27FAA-36E8-4C4D-8FB5-A2C00C6F99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13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Scientific source: user-provided brief (B1-B6 in design-spec.json). Detail a: chunk and embed to prepare the index; online lookup and reranking yield passages. Detail b: assemble the question and evidence prompt, generate, parse cited claims, then compare every cited claim against its source span. One attempt is one draft/check cycle; at most three total attempts. All weights frozen. Retrieved content is evidence, never an instruction or a weight update. Logging is omitted as an implementation detail. Companion: examples/evidence-gated-overview/detail.md. No experimental data or numerical performance claims.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D27FAA-36E8-4C4D-8FB5-A2C00C6F995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89577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BE805A-0E2B-A828-71F6-0D5652872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77" y="471289"/>
            <a:ext cx="4589860" cy="1002571"/>
          </a:xfrm>
        </p:spPr>
        <p:txBody>
          <a:bodyPr anchor="b"/>
          <a:lstStyle>
            <a:lvl1pPr algn="ctr"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838AEC0-E620-C042-D76E-08B1283CC2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77" y="1512522"/>
            <a:ext cx="4589860" cy="695267"/>
          </a:xfrm>
        </p:spPr>
        <p:txBody>
          <a:bodyPr/>
          <a:lstStyle>
            <a:lvl1pPr marL="0" indent="0" algn="ctr">
              <a:buNone/>
              <a:defRPr sz="506"/>
            </a:lvl1pPr>
            <a:lvl2pPr marL="96373" indent="0" algn="ctr">
              <a:buNone/>
              <a:defRPr sz="422"/>
            </a:lvl2pPr>
            <a:lvl3pPr marL="192746" indent="0" algn="ctr">
              <a:buNone/>
              <a:defRPr sz="380"/>
            </a:lvl3pPr>
            <a:lvl4pPr marL="289119" indent="0" algn="ctr">
              <a:buNone/>
              <a:defRPr sz="337"/>
            </a:lvl4pPr>
            <a:lvl5pPr marL="385493" indent="0" algn="ctr">
              <a:buNone/>
              <a:defRPr sz="337"/>
            </a:lvl5pPr>
            <a:lvl6pPr marL="481865" indent="0" algn="ctr">
              <a:buNone/>
              <a:defRPr sz="337"/>
            </a:lvl6pPr>
            <a:lvl7pPr marL="578238" indent="0" algn="ctr">
              <a:buNone/>
              <a:defRPr sz="337"/>
            </a:lvl7pPr>
            <a:lvl8pPr marL="674612" indent="0" algn="ctr">
              <a:buNone/>
              <a:defRPr sz="337"/>
            </a:lvl8pPr>
            <a:lvl9pPr marL="770985" indent="0" algn="ctr">
              <a:buNone/>
              <a:defRPr sz="337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DB2910-0241-5B9D-3C23-BDC45E9D9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B07972-A51D-CC2E-9E8E-A0563AE8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035AB0-3820-5E8D-C748-4B08BD13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729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3DE8BE-E6D4-F5CF-C977-3E365D33A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A40948-C4C9-22FC-1AED-8803F898D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93E10C-945A-B84F-C9E8-66496B24C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3F5F31-FF11-BC7F-EB87-1DFB0CC4C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845542-309F-4078-A6A2-CECE0CDED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3082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11FF0-D9C7-824C-391F-E313464BD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51" y="717932"/>
            <a:ext cx="5278339" cy="1197885"/>
          </a:xfrm>
        </p:spPr>
        <p:txBody>
          <a:bodyPr anchor="b"/>
          <a:lstStyle>
            <a:lvl1pPr>
              <a:defRPr sz="1265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054E615-677D-BF59-722F-AE4C93ECA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7551" y="1927150"/>
            <a:ext cx="5278339" cy="629940"/>
          </a:xfrm>
        </p:spPr>
        <p:txBody>
          <a:bodyPr/>
          <a:lstStyle>
            <a:lvl1pPr marL="0" indent="0">
              <a:buNone/>
              <a:defRPr sz="506">
                <a:solidFill>
                  <a:schemeClr val="tx1">
                    <a:tint val="82000"/>
                  </a:schemeClr>
                </a:solidFill>
              </a:defRPr>
            </a:lvl1pPr>
            <a:lvl2pPr marL="96373" indent="0">
              <a:buNone/>
              <a:defRPr sz="422">
                <a:solidFill>
                  <a:schemeClr val="tx1">
                    <a:tint val="82000"/>
                  </a:schemeClr>
                </a:solidFill>
              </a:defRPr>
            </a:lvl2pPr>
            <a:lvl3pPr marL="192746" indent="0">
              <a:buNone/>
              <a:defRPr sz="380">
                <a:solidFill>
                  <a:schemeClr val="tx1">
                    <a:tint val="82000"/>
                  </a:schemeClr>
                </a:solidFill>
              </a:defRPr>
            </a:lvl3pPr>
            <a:lvl4pPr marL="289119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4pPr>
            <a:lvl5pPr marL="385493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5pPr>
            <a:lvl6pPr marL="48186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6pPr>
            <a:lvl7pPr marL="578238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7pPr>
            <a:lvl8pPr marL="674612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8pPr>
            <a:lvl9pPr marL="770985" indent="0">
              <a:buNone/>
              <a:defRPr sz="33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CA943-8752-44B2-BAE0-5A91E60C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0DE84A-52C8-FCEE-072F-3E2CA7D8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98F48B-C7E6-762F-B540-B307833B4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71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1619D-14C5-77F4-B7D8-23C321DAC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28605F-0611-B8E1-C33E-5F2CD8E15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738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5389710-5EBB-8446-40E5-1A86547E13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98156" y="766593"/>
            <a:ext cx="2600921" cy="182715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FC8D2E1-590A-5637-FAD3-20F0A7A2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0FA90B-BC96-25BB-48CC-173E2205B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382CC2B-B051-D7A1-F062-772EB4FFE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55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0639CA-AAC7-E161-BBD6-76231F50A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53319"/>
            <a:ext cx="5278339" cy="55661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49AE8F-3811-0D46-7DB2-BCB54B685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534" y="705933"/>
            <a:ext cx="258896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1C422A4-3885-A6DD-2DB3-30B4AE3D8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534" y="1051899"/>
            <a:ext cx="258896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FA2F3D-A6F7-557D-F778-DA7318987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98155" y="705933"/>
            <a:ext cx="2601718" cy="345967"/>
          </a:xfrm>
        </p:spPr>
        <p:txBody>
          <a:bodyPr anchor="b"/>
          <a:lstStyle>
            <a:lvl1pPr marL="0" indent="0">
              <a:buNone/>
              <a:defRPr sz="506" b="1"/>
            </a:lvl1pPr>
            <a:lvl2pPr marL="96373" indent="0">
              <a:buNone/>
              <a:defRPr sz="422" b="1"/>
            </a:lvl2pPr>
            <a:lvl3pPr marL="192746" indent="0">
              <a:buNone/>
              <a:defRPr sz="380" b="1"/>
            </a:lvl3pPr>
            <a:lvl4pPr marL="289119" indent="0">
              <a:buNone/>
              <a:defRPr sz="337" b="1"/>
            </a:lvl4pPr>
            <a:lvl5pPr marL="385493" indent="0">
              <a:buNone/>
              <a:defRPr sz="337" b="1"/>
            </a:lvl5pPr>
            <a:lvl6pPr marL="481865" indent="0">
              <a:buNone/>
              <a:defRPr sz="337" b="1"/>
            </a:lvl6pPr>
            <a:lvl7pPr marL="578238" indent="0">
              <a:buNone/>
              <a:defRPr sz="337" b="1"/>
            </a:lvl7pPr>
            <a:lvl8pPr marL="674612" indent="0">
              <a:buNone/>
              <a:defRPr sz="337" b="1"/>
            </a:lvl8pPr>
            <a:lvl9pPr marL="770985" indent="0">
              <a:buNone/>
              <a:defRPr sz="33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082D26-9832-3C21-4D18-CCE1600C1F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098155" y="1051899"/>
            <a:ext cx="2601718" cy="154718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6E7E3D-5AC9-FF52-8BDE-AD4C25AFD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8199CC-B7E2-C3ED-F646-41D09BC52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6E8081-A9B3-E2F4-C7FB-3E5F8D0C8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738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87FCBC-B4A4-94A2-06CA-D42E30943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76E60E-DBC4-F641-2505-4FCB944F9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E6E6AE-223E-D88D-1410-A2C543B63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EA7F5D-F9DD-B24E-913E-2C6CA05EB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142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66FC69A-45B2-061A-1F10-431B78AA0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390DDA-C20F-D0AC-E21E-2C4CA1D0B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15111F-7672-9DD8-FCAA-28BF643B2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51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1440CD-CBAE-FEEA-E1EF-CFCAA7A76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033959-D4BE-E005-32B8-DA9912356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>
              <a:defRPr sz="674"/>
            </a:lvl1pPr>
            <a:lvl2pPr>
              <a:defRPr sz="590"/>
            </a:lvl2pPr>
            <a:lvl3pPr>
              <a:defRPr sz="506"/>
            </a:lvl3pPr>
            <a:lvl4pPr>
              <a:defRPr sz="422"/>
            </a:lvl4pPr>
            <a:lvl5pPr>
              <a:defRPr sz="422"/>
            </a:lvl5pPr>
            <a:lvl6pPr>
              <a:defRPr sz="422"/>
            </a:lvl6pPr>
            <a:lvl7pPr>
              <a:defRPr sz="422"/>
            </a:lvl7pPr>
            <a:lvl8pPr>
              <a:defRPr sz="422"/>
            </a:lvl8pPr>
            <a:lvl9pPr>
              <a:defRPr sz="4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EC618DA-2B0E-5FD7-C8F5-877FEE045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67AD50-47CE-E8D1-1905-77104BD2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12601EA-C3EF-F37D-5B71-80AA5B25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FAC0C8-8929-A8E0-7156-B6708B55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164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85BBFA-F4D8-6E15-3B07-E9578FDB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535" y="191982"/>
            <a:ext cx="1973799" cy="671936"/>
          </a:xfrm>
        </p:spPr>
        <p:txBody>
          <a:bodyPr anchor="b"/>
          <a:lstStyle>
            <a:lvl1pPr>
              <a:defRPr sz="67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FCF9B58-078A-3CFF-1C31-0723FBD572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601719" y="414628"/>
            <a:ext cx="3098155" cy="2046471"/>
          </a:xfrm>
        </p:spPr>
        <p:txBody>
          <a:bodyPr/>
          <a:lstStyle>
            <a:lvl1pPr marL="0" indent="0">
              <a:buNone/>
              <a:defRPr sz="674"/>
            </a:lvl1pPr>
            <a:lvl2pPr marL="96373" indent="0">
              <a:buNone/>
              <a:defRPr sz="590"/>
            </a:lvl2pPr>
            <a:lvl3pPr marL="192746" indent="0">
              <a:buNone/>
              <a:defRPr sz="506"/>
            </a:lvl3pPr>
            <a:lvl4pPr marL="289119" indent="0">
              <a:buNone/>
              <a:defRPr sz="422"/>
            </a:lvl4pPr>
            <a:lvl5pPr marL="385493" indent="0">
              <a:buNone/>
              <a:defRPr sz="422"/>
            </a:lvl5pPr>
            <a:lvl6pPr marL="481865" indent="0">
              <a:buNone/>
              <a:defRPr sz="422"/>
            </a:lvl6pPr>
            <a:lvl7pPr marL="578238" indent="0">
              <a:buNone/>
              <a:defRPr sz="422"/>
            </a:lvl7pPr>
            <a:lvl8pPr marL="674612" indent="0">
              <a:buNone/>
              <a:defRPr sz="422"/>
            </a:lvl8pPr>
            <a:lvl9pPr marL="770985" indent="0">
              <a:buNone/>
              <a:defRPr sz="422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DC1406-F043-B526-5885-C6F00BE078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535" y="863918"/>
            <a:ext cx="1973799" cy="1600514"/>
          </a:xfrm>
        </p:spPr>
        <p:txBody>
          <a:bodyPr/>
          <a:lstStyle>
            <a:lvl1pPr marL="0" indent="0">
              <a:buNone/>
              <a:defRPr sz="337"/>
            </a:lvl1pPr>
            <a:lvl2pPr marL="96373" indent="0">
              <a:buNone/>
              <a:defRPr sz="295"/>
            </a:lvl2pPr>
            <a:lvl3pPr marL="192746" indent="0">
              <a:buNone/>
              <a:defRPr sz="253"/>
            </a:lvl3pPr>
            <a:lvl4pPr marL="289119" indent="0">
              <a:buNone/>
              <a:defRPr sz="211"/>
            </a:lvl4pPr>
            <a:lvl5pPr marL="385493" indent="0">
              <a:buNone/>
              <a:defRPr sz="211"/>
            </a:lvl5pPr>
            <a:lvl6pPr marL="481865" indent="0">
              <a:buNone/>
              <a:defRPr sz="211"/>
            </a:lvl6pPr>
            <a:lvl7pPr marL="578238" indent="0">
              <a:buNone/>
              <a:defRPr sz="211"/>
            </a:lvl7pPr>
            <a:lvl8pPr marL="674612" indent="0">
              <a:buNone/>
              <a:defRPr sz="211"/>
            </a:lvl8pPr>
            <a:lvl9pPr marL="770985" indent="0">
              <a:buNone/>
              <a:defRPr sz="21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9924CA-70C1-A9F7-A9AC-8B4C76C9D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E5FDA9C-2A6F-2A78-A022-B826981FC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54B5835-5D1D-B714-8700-9D024DAA0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11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B48ECE-071B-080F-1C47-021E5044F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159A2A-BAF4-CCB6-4ECB-2EC31E5E5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1E8C34-4C02-9D77-0C86-7779DED23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BDAA2E-A554-9E5D-BBA4-B4B7B94F8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B0184E-1B8A-5620-8A90-500234DC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60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A368D50-6E65-9F53-8023-CB9BAF90AC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379492" y="153319"/>
            <a:ext cx="1319585" cy="244043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2314EA-1C8A-D9E8-5907-6F43A6779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0737" y="153319"/>
            <a:ext cx="3882256" cy="244043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CB92F-CC17-4840-C628-0143A49F9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AAA275-24FE-34D4-A1CD-3F5A8FF18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A1C7F6-255B-E72B-A3D3-37398E232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950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5E5767D-2293-82F5-D384-BB06CF127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38" y="153319"/>
            <a:ext cx="5278339" cy="556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5FCAEC-C739-22C8-C03C-44474E3F3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738" y="766593"/>
            <a:ext cx="5278339" cy="1827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49C097-3F61-C5D5-661B-930663AD0E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737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B47229-F0EF-4BDF-AE4D-A31A26CF5662}" type="datetimeFigureOut">
              <a:rPr lang="zh-CN" altLang="en-US" smtClean="0"/>
              <a:t>2026/9/5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91F724-48C4-5FAB-5ADE-B061049317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27189" y="2669079"/>
            <a:ext cx="2065437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893BF8-0983-96CE-E681-60CB22ADDF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2118" y="2669079"/>
            <a:ext cx="1376958" cy="15331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0D9F83-5BE8-46B8-87F9-1FBCBA2D3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795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92746" rtl="0" eaLnBrk="1" latinLnBrk="0" hangingPunct="1">
        <a:lnSpc>
          <a:spcPct val="90000"/>
        </a:lnSpc>
        <a:spcBef>
          <a:spcPct val="0"/>
        </a:spcBef>
        <a:buNone/>
        <a:defRPr sz="9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186" indent="-48186" algn="l" defTabSz="192746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590" kern="1200">
          <a:solidFill>
            <a:schemeClr val="tx1"/>
          </a:solidFill>
          <a:latin typeface="+mn-lt"/>
          <a:ea typeface="+mn-ea"/>
          <a:cs typeface="+mn-cs"/>
        </a:defRPr>
      </a:lvl1pPr>
      <a:lvl2pPr marL="144560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506" kern="1200">
          <a:solidFill>
            <a:schemeClr val="tx1"/>
          </a:solidFill>
          <a:latin typeface="+mn-lt"/>
          <a:ea typeface="+mn-ea"/>
          <a:cs typeface="+mn-cs"/>
        </a:defRPr>
      </a:lvl2pPr>
      <a:lvl3pPr marL="240933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422" kern="1200">
          <a:solidFill>
            <a:schemeClr val="tx1"/>
          </a:solidFill>
          <a:latin typeface="+mn-lt"/>
          <a:ea typeface="+mn-ea"/>
          <a:cs typeface="+mn-cs"/>
        </a:defRPr>
      </a:lvl3pPr>
      <a:lvl4pPr marL="337306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433679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530052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626425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722798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819171" indent="-48186" algn="l" defTabSz="192746" rtl="0" eaLnBrk="1" latinLnBrk="0" hangingPunct="1">
        <a:lnSpc>
          <a:spcPct val="90000"/>
        </a:lnSpc>
        <a:spcBef>
          <a:spcPts val="105"/>
        </a:spcBef>
        <a:buFont typeface="Arial" panose="020B0604020202020204" pitchFamily="34" charset="0"/>
        <a:buChar char="•"/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1pPr>
      <a:lvl2pPr marL="9637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2pPr>
      <a:lvl3pPr marL="192746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3pPr>
      <a:lvl4pPr marL="289119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4pPr>
      <a:lvl5pPr marL="385493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5pPr>
      <a:lvl6pPr marL="48186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6pPr>
      <a:lvl7pPr marL="578238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7pPr>
      <a:lvl8pPr marL="674612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8pPr>
      <a:lvl9pPr marL="770985" algn="l" defTabSz="192746" rtl="0" eaLnBrk="1" latinLnBrk="0" hangingPunct="1">
        <a:defRPr sz="3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ozen_weights" descr="Evidence-gated overview; L2; frozen_weights">
            <a:extLst>
              <a:ext uri="{FF2B5EF4-FFF2-40B4-BE49-F238E27FC236}">
                <a16:creationId xmlns:a16="http://schemas.microsoft.com/office/drawing/2014/main" id="{34942FBD-8A7F-DA12-1B9E-4092C43F7587}"/>
              </a:ext>
            </a:extLst>
          </p:cNvPr>
          <p:cNvSpPr txBox="1"/>
          <p:nvPr/>
        </p:nvSpPr>
        <p:spPr>
          <a:xfrm>
            <a:off x="4284000" y="126000"/>
            <a:ext cx="1692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All model weights frozen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4" name="evidence_boundary" descr="Evidence-gated overview; L2; evidence_boundary">
            <a:extLst>
              <a:ext uri="{FF2B5EF4-FFF2-40B4-BE49-F238E27FC236}">
                <a16:creationId xmlns:a16="http://schemas.microsoft.com/office/drawing/2014/main" id="{270C7E87-3932-F608-7171-BA7B5360B18F}"/>
              </a:ext>
            </a:extLst>
          </p:cNvPr>
          <p:cNvSpPr txBox="1"/>
          <p:nvPr/>
        </p:nvSpPr>
        <p:spPr>
          <a:xfrm>
            <a:off x="144000" y="432000"/>
            <a:ext cx="2160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40">
                <a:solidFill>
                  <a:srgbClr val="52636A"/>
                </a:solidFill>
                <a:latin typeface="Arial" panose="020B0604020202020204" pitchFamily="34" charset="0"/>
              </a:rPr>
              <a:t>Retrieved text is evidence.
Never instructions or weight updates.</a:t>
            </a:r>
            <a:endParaRPr lang="zh-CN" altLang="en-US" sz="74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" name="question" descr="Evidence-gated overview; L1; question">
            <a:extLst>
              <a:ext uri="{FF2B5EF4-FFF2-40B4-BE49-F238E27FC236}">
                <a16:creationId xmlns:a16="http://schemas.microsoft.com/office/drawing/2014/main" id="{311BF15C-322D-B1F2-4C7C-E0B6D81528F3}"/>
              </a:ext>
            </a:extLst>
          </p:cNvPr>
          <p:cNvSpPr/>
          <p:nvPr/>
        </p:nvSpPr>
        <p:spPr>
          <a:xfrm>
            <a:off x="144000" y="1116000"/>
            <a:ext cx="648000" cy="432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question_label" descr="Evidence-gated overview; L1; question_label">
            <a:extLst>
              <a:ext uri="{FF2B5EF4-FFF2-40B4-BE49-F238E27FC236}">
                <a16:creationId xmlns:a16="http://schemas.microsoft.com/office/drawing/2014/main" id="{ED9F775A-CFBC-52CF-D8B8-81563B2EB008}"/>
              </a:ext>
            </a:extLst>
          </p:cNvPr>
          <p:cNvSpPr txBox="1"/>
          <p:nvPr/>
        </p:nvSpPr>
        <p:spPr>
          <a:xfrm>
            <a:off x="180000" y="1159200"/>
            <a:ext cx="57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User
question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7" name="retrieve" descr="Evidence-gated overview; L1; retrieve">
            <a:extLst>
              <a:ext uri="{FF2B5EF4-FFF2-40B4-BE49-F238E27FC236}">
                <a16:creationId xmlns:a16="http://schemas.microsoft.com/office/drawing/2014/main" id="{E5E9F074-5E2D-43FF-6FE8-AB346D3C7046}"/>
              </a:ext>
            </a:extLst>
          </p:cNvPr>
          <p:cNvSpPr/>
          <p:nvPr/>
        </p:nvSpPr>
        <p:spPr>
          <a:xfrm>
            <a:off x="1044000" y="1116000"/>
            <a:ext cx="864000" cy="432000"/>
          </a:xfrm>
          <a:prstGeom prst="rect">
            <a:avLst/>
          </a:prstGeom>
          <a:solidFill>
            <a:srgbClr val="F2F5F6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trieve_label" descr="Evidence-gated overview; L1; retrieve_label">
            <a:extLst>
              <a:ext uri="{FF2B5EF4-FFF2-40B4-BE49-F238E27FC236}">
                <a16:creationId xmlns:a16="http://schemas.microsoft.com/office/drawing/2014/main" id="{A16BDE21-0360-7776-528B-F12B2B877BE4}"/>
              </a:ext>
            </a:extLst>
          </p:cNvPr>
          <p:cNvSpPr txBox="1"/>
          <p:nvPr/>
        </p:nvSpPr>
        <p:spPr>
          <a:xfrm>
            <a:off x="1080000" y="1224000"/>
            <a:ext cx="792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900" b="1">
                <a:solidFill>
                  <a:srgbClr val="26363D"/>
                </a:solidFill>
                <a:latin typeface="Arial" panose="020B0604020202020204" pitchFamily="34" charset="0"/>
              </a:rPr>
              <a:t>Retrieve</a:t>
            </a:r>
            <a:endParaRPr lang="zh-CN" altLang="en-US" sz="9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9" name="draft" descr="Evidence-gated overview; L1; draft">
            <a:extLst>
              <a:ext uri="{FF2B5EF4-FFF2-40B4-BE49-F238E27FC236}">
                <a16:creationId xmlns:a16="http://schemas.microsoft.com/office/drawing/2014/main" id="{E9EEEA1B-8FB0-3AC5-97BC-4101877B10A4}"/>
              </a:ext>
            </a:extLst>
          </p:cNvPr>
          <p:cNvSpPr/>
          <p:nvPr/>
        </p:nvSpPr>
        <p:spPr>
          <a:xfrm>
            <a:off x="2196000" y="1080000"/>
            <a:ext cx="864000" cy="504000"/>
          </a:xfrm>
          <a:prstGeom prst="foldedCorner">
            <a:avLst/>
          </a:prstGeom>
          <a:solidFill>
            <a:srgbClr val="FFFFFF"/>
          </a:solidFill>
          <a:ln w="10160">
            <a:solidFill>
              <a:srgbClr val="26363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draft_label" descr="Evidence-gated overview; L1; draft_label">
            <a:extLst>
              <a:ext uri="{FF2B5EF4-FFF2-40B4-BE49-F238E27FC236}">
                <a16:creationId xmlns:a16="http://schemas.microsoft.com/office/drawing/2014/main" id="{11B5D38A-6AF8-C83D-FA04-C870CC4FB140}"/>
              </a:ext>
            </a:extLst>
          </p:cNvPr>
          <p:cNvSpPr txBox="1"/>
          <p:nvPr/>
        </p:nvSpPr>
        <p:spPr>
          <a:xfrm>
            <a:off x="2232000" y="1224000"/>
            <a:ext cx="756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50">
                <a:solidFill>
                  <a:srgbClr val="26363D"/>
                </a:solidFill>
                <a:latin typeface="Arial" panose="020B0604020202020204" pitchFamily="34" charset="0"/>
              </a:rPr>
              <a:t>Draft / revise</a:t>
            </a:r>
            <a:endParaRPr lang="zh-CN" altLang="en-US" sz="850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11" name="source_spans" descr="Evidence-gated overview; L2; source_spans">
            <a:extLst>
              <a:ext uri="{FF2B5EF4-FFF2-40B4-BE49-F238E27FC236}">
                <a16:creationId xmlns:a16="http://schemas.microsoft.com/office/drawing/2014/main" id="{0B593CDB-9330-0179-598C-7852316ADAE2}"/>
              </a:ext>
            </a:extLst>
          </p:cNvPr>
          <p:cNvSpPr/>
          <p:nvPr/>
        </p:nvSpPr>
        <p:spPr>
          <a:xfrm>
            <a:off x="2484000" y="432000"/>
            <a:ext cx="972000" cy="324000"/>
          </a:xfrm>
          <a:prstGeom prst="foldedCorner">
            <a:avLst/>
          </a:prstGeom>
          <a:solidFill>
            <a:srgbClr val="EAF3F0"/>
          </a:solidFill>
          <a:ln w="9525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source_spans_label" descr="Evidence-gated overview; L2; source_spans_label">
            <a:extLst>
              <a:ext uri="{FF2B5EF4-FFF2-40B4-BE49-F238E27FC236}">
                <a16:creationId xmlns:a16="http://schemas.microsoft.com/office/drawing/2014/main" id="{1D970721-1D76-34B9-4934-BC38382852C5}"/>
              </a:ext>
            </a:extLst>
          </p:cNvPr>
          <p:cNvSpPr txBox="1"/>
          <p:nvPr/>
        </p:nvSpPr>
        <p:spPr>
          <a:xfrm>
            <a:off x="2520000" y="504000"/>
            <a:ext cx="864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00">
                <a:solidFill>
                  <a:srgbClr val="12635F"/>
                </a:solidFill>
                <a:latin typeface="Arial" panose="020B0604020202020204" pitchFamily="34" charset="0"/>
              </a:rPr>
              <a:t>Source spans</a:t>
            </a:r>
            <a:endParaRPr lang="zh-CN" altLang="en-US" sz="80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3" name="evidence_gate" descr="Evidence-gated overview; L1; evidence_gate">
            <a:extLst>
              <a:ext uri="{FF2B5EF4-FFF2-40B4-BE49-F238E27FC236}">
                <a16:creationId xmlns:a16="http://schemas.microsoft.com/office/drawing/2014/main" id="{1E0287FF-5A30-2A3F-6F15-2D2243C3BEAB}"/>
              </a:ext>
            </a:extLst>
          </p:cNvPr>
          <p:cNvSpPr/>
          <p:nvPr/>
        </p:nvSpPr>
        <p:spPr>
          <a:xfrm>
            <a:off x="3456000" y="936000"/>
            <a:ext cx="792000" cy="792000"/>
          </a:xfrm>
          <a:prstGeom prst="ellipse">
            <a:avLst/>
          </a:prstGeom>
          <a:solidFill>
            <a:srgbClr val="12635F"/>
          </a:solidFill>
          <a:ln w="1270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gate_label" descr="Evidence-gated overview; L1; gate_label">
            <a:extLst>
              <a:ext uri="{FF2B5EF4-FFF2-40B4-BE49-F238E27FC236}">
                <a16:creationId xmlns:a16="http://schemas.microsoft.com/office/drawing/2014/main" id="{793C5711-1E1A-ED5E-521B-0A51648344F3}"/>
              </a:ext>
            </a:extLst>
          </p:cNvPr>
          <p:cNvSpPr txBox="1"/>
          <p:nvPr/>
        </p:nvSpPr>
        <p:spPr>
          <a:xfrm>
            <a:off x="3484800" y="684000"/>
            <a:ext cx="1080000" cy="180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1000" b="1">
                <a:solidFill>
                  <a:srgbClr val="12635F"/>
                </a:solidFill>
                <a:latin typeface="Arial" panose="020B0604020202020204" pitchFamily="34" charset="0"/>
              </a:rPr>
              <a:t>Evidence check</a:t>
            </a:r>
            <a:endParaRPr lang="zh-CN" altLang="en-US" sz="100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5" name="gate_claim_strip" descr="Evidence-gated overview; L1; gate_claim_strip">
            <a:extLst>
              <a:ext uri="{FF2B5EF4-FFF2-40B4-BE49-F238E27FC236}">
                <a16:creationId xmlns:a16="http://schemas.microsoft.com/office/drawing/2014/main" id="{4ED97B4A-2F8A-B436-A3ED-D7CFCB34F83B}"/>
              </a:ext>
            </a:extLst>
          </p:cNvPr>
          <p:cNvSpPr/>
          <p:nvPr/>
        </p:nvSpPr>
        <p:spPr>
          <a:xfrm>
            <a:off x="3567600" y="10944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gate_claim_text" descr="Evidence-gated overview; L1; gate_claim_text">
            <a:extLst>
              <a:ext uri="{FF2B5EF4-FFF2-40B4-BE49-F238E27FC236}">
                <a16:creationId xmlns:a16="http://schemas.microsoft.com/office/drawing/2014/main" id="{2DE6A22D-CAFE-DEAC-549D-006216B74FE4}"/>
              </a:ext>
            </a:extLst>
          </p:cNvPr>
          <p:cNvSpPr txBox="1"/>
          <p:nvPr/>
        </p:nvSpPr>
        <p:spPr>
          <a:xfrm>
            <a:off x="3600000" y="10998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claim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17" name="gate_span_strip" descr="Evidence-gated overview; L1; gate_span_strip">
            <a:extLst>
              <a:ext uri="{FF2B5EF4-FFF2-40B4-BE49-F238E27FC236}">
                <a16:creationId xmlns:a16="http://schemas.microsoft.com/office/drawing/2014/main" id="{7324BEC3-7F06-FD97-774B-94A8D6B2A614}"/>
              </a:ext>
            </a:extLst>
          </p:cNvPr>
          <p:cNvSpPr/>
          <p:nvPr/>
        </p:nvSpPr>
        <p:spPr>
          <a:xfrm>
            <a:off x="3567600" y="1440000"/>
            <a:ext cx="457200" cy="154800"/>
          </a:xfrm>
          <a:prstGeom prst="rect">
            <a:avLst/>
          </a:prstGeom>
          <a:solidFill>
            <a:srgbClr val="FFFFFF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FFFFFF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gate_span_text" descr="Evidence-gated overview; L1; gate_span_text">
            <a:extLst>
              <a:ext uri="{FF2B5EF4-FFF2-40B4-BE49-F238E27FC236}">
                <a16:creationId xmlns:a16="http://schemas.microsoft.com/office/drawing/2014/main" id="{FC72DDD9-3695-3858-646E-C5364762DC11}"/>
              </a:ext>
            </a:extLst>
          </p:cNvPr>
          <p:cNvSpPr txBox="1"/>
          <p:nvPr/>
        </p:nvSpPr>
        <p:spPr>
          <a:xfrm>
            <a:off x="3600000" y="1443600"/>
            <a:ext cx="396000" cy="140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50" b="1">
                <a:solidFill>
                  <a:srgbClr val="12635F"/>
                </a:solidFill>
                <a:latin typeface="Arial" panose="020B0604020202020204" pitchFamily="34" charset="0"/>
              </a:rPr>
              <a:t>span</a:t>
            </a:r>
            <a:endParaRPr lang="zh-CN" altLang="en-US" sz="75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19" name="glyph_claim_span_link">
            <a:extLst>
              <a:ext uri="{FF2B5EF4-FFF2-40B4-BE49-F238E27FC236}">
                <a16:creationId xmlns:a16="http://schemas.microsoft.com/office/drawing/2014/main" id="{4A5EBDBC-70C1-C428-9B14-15705CD17730}"/>
              </a:ext>
            </a:extLst>
          </p:cNvPr>
          <p:cNvCxnSpPr/>
          <p:nvPr/>
        </p:nvCxnSpPr>
        <p:spPr>
          <a:xfrm>
            <a:off x="3672000" y="1256400"/>
            <a:ext cx="0" cy="165600"/>
          </a:xfrm>
          <a:prstGeom prst="straightConnector1">
            <a:avLst/>
          </a:prstGeom>
          <a:ln w="101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lyph_check_short">
            <a:extLst>
              <a:ext uri="{FF2B5EF4-FFF2-40B4-BE49-F238E27FC236}">
                <a16:creationId xmlns:a16="http://schemas.microsoft.com/office/drawing/2014/main" id="{5F43929A-DA98-7DA4-820B-DBA298008C99}"/>
              </a:ext>
            </a:extLst>
          </p:cNvPr>
          <p:cNvCxnSpPr/>
          <p:nvPr/>
        </p:nvCxnSpPr>
        <p:spPr>
          <a:xfrm>
            <a:off x="3823200" y="1303200"/>
            <a:ext cx="90000" cy="828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lyph_check_long">
            <a:extLst>
              <a:ext uri="{FF2B5EF4-FFF2-40B4-BE49-F238E27FC236}">
                <a16:creationId xmlns:a16="http://schemas.microsoft.com/office/drawing/2014/main" id="{EA9789C2-54A1-5DC9-941F-729BE21204BA}"/>
              </a:ext>
            </a:extLst>
          </p:cNvPr>
          <p:cNvCxnSpPr/>
          <p:nvPr/>
        </p:nvCxnSpPr>
        <p:spPr>
          <a:xfrm flipV="1">
            <a:off x="3913200" y="1209600"/>
            <a:ext cx="176400" cy="176400"/>
          </a:xfrm>
          <a:prstGeom prst="straightConnector1">
            <a:avLst/>
          </a:prstGeom>
          <a:ln w="22860">
            <a:solidFill>
              <a:srgbClr val="FFFFF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supported_answer" descr="Evidence-gated overview; L1; supported_answer">
            <a:extLst>
              <a:ext uri="{FF2B5EF4-FFF2-40B4-BE49-F238E27FC236}">
                <a16:creationId xmlns:a16="http://schemas.microsoft.com/office/drawing/2014/main" id="{7B0E2105-5770-C44C-E4F1-B39D26C426E6}"/>
              </a:ext>
            </a:extLst>
          </p:cNvPr>
          <p:cNvSpPr/>
          <p:nvPr/>
        </p:nvSpPr>
        <p:spPr>
          <a:xfrm>
            <a:off x="5148000" y="1044000"/>
            <a:ext cx="828000" cy="540000"/>
          </a:xfrm>
          <a:prstGeom prst="flowChartDocument">
            <a:avLst/>
          </a:prstGeom>
          <a:solidFill>
            <a:srgbClr val="EAF3F0"/>
          </a:solidFill>
          <a:ln w="11430">
            <a:solidFill>
              <a:srgbClr val="12635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answer_label" descr="Evidence-gated overview; L1; answer_label">
            <a:extLst>
              <a:ext uri="{FF2B5EF4-FFF2-40B4-BE49-F238E27FC236}">
                <a16:creationId xmlns:a16="http://schemas.microsoft.com/office/drawing/2014/main" id="{9484B030-0516-C2F5-88C8-88BD83F0618E}"/>
              </a:ext>
            </a:extLst>
          </p:cNvPr>
          <p:cNvSpPr txBox="1"/>
          <p:nvPr/>
        </p:nvSpPr>
        <p:spPr>
          <a:xfrm>
            <a:off x="5184000" y="1116000"/>
            <a:ext cx="756000" cy="32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12635F"/>
                </a:solidFill>
                <a:latin typeface="Arial" panose="020B0604020202020204" pitchFamily="34" charset="0"/>
              </a:rPr>
              <a:t>Answer
+ citations</a:t>
            </a:r>
            <a:endParaRPr lang="zh-CN" altLang="en-US" sz="860" b="1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sp>
        <p:nvSpPr>
          <p:cNvPr id="24" name="abstain" descr="Evidence-gated overview; L1; abstain">
            <a:extLst>
              <a:ext uri="{FF2B5EF4-FFF2-40B4-BE49-F238E27FC236}">
                <a16:creationId xmlns:a16="http://schemas.microsoft.com/office/drawing/2014/main" id="{0660E586-7F8D-43D2-44B8-9C64264DEF71}"/>
              </a:ext>
            </a:extLst>
          </p:cNvPr>
          <p:cNvSpPr/>
          <p:nvPr/>
        </p:nvSpPr>
        <p:spPr>
          <a:xfrm>
            <a:off x="5148000" y="1728000"/>
            <a:ext cx="828000" cy="360000"/>
          </a:xfrm>
          <a:prstGeom prst="octagon">
            <a:avLst/>
          </a:prstGeom>
          <a:solidFill>
            <a:srgbClr val="FAF0EB"/>
          </a:solidFill>
          <a:ln w="11430">
            <a:solidFill>
              <a:srgbClr val="9B4D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abstain_label" descr="Evidence-gated overview; L1; abstain_label">
            <a:extLst>
              <a:ext uri="{FF2B5EF4-FFF2-40B4-BE49-F238E27FC236}">
                <a16:creationId xmlns:a16="http://schemas.microsoft.com/office/drawing/2014/main" id="{C3DEB36A-6817-0E6E-B65A-D6FFFC7AA925}"/>
              </a:ext>
            </a:extLst>
          </p:cNvPr>
          <p:cNvSpPr txBox="1"/>
          <p:nvPr/>
        </p:nvSpPr>
        <p:spPr>
          <a:xfrm>
            <a:off x="5220000" y="1800000"/>
            <a:ext cx="684000" cy="216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860" b="1">
                <a:solidFill>
                  <a:srgbClr val="9B4D32"/>
                </a:solidFill>
                <a:latin typeface="Arial" panose="020B0604020202020204" pitchFamily="34" charset="0"/>
              </a:rPr>
              <a:t>Abstain</a:t>
            </a:r>
            <a:endParaRPr lang="zh-CN" altLang="en-US" sz="860" b="1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question_to_retrieve">
            <a:extLst>
              <a:ext uri="{FF2B5EF4-FFF2-40B4-BE49-F238E27FC236}">
                <a16:creationId xmlns:a16="http://schemas.microsoft.com/office/drawing/2014/main" id="{D4A5D9E1-A0AD-F376-C8DF-02363D1CE169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792000" y="1332000"/>
            <a:ext cx="252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passages_to_draft">
            <a:extLst>
              <a:ext uri="{FF2B5EF4-FFF2-40B4-BE49-F238E27FC236}">
                <a16:creationId xmlns:a16="http://schemas.microsoft.com/office/drawing/2014/main" id="{7F1930C8-3C9E-E4D5-299F-7F2862F2640D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1908000" y="1332000"/>
            <a:ext cx="288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laims_to_gate">
            <a:extLst>
              <a:ext uri="{FF2B5EF4-FFF2-40B4-BE49-F238E27FC236}">
                <a16:creationId xmlns:a16="http://schemas.microsoft.com/office/drawing/2014/main" id="{A9291BE5-9193-2ED0-E0F3-CFDD856FFFCA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3060000" y="1332000"/>
            <a:ext cx="396000" cy="0"/>
          </a:xfrm>
          <a:prstGeom prst="straightConnector1">
            <a:avLst/>
          </a:prstGeom>
          <a:ln w="13970">
            <a:solidFill>
              <a:srgbClr val="26363D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retrieve_to_spans__1">
            <a:extLst>
              <a:ext uri="{FF2B5EF4-FFF2-40B4-BE49-F238E27FC236}">
                <a16:creationId xmlns:a16="http://schemas.microsoft.com/office/drawing/2014/main" id="{F8D21DE5-0125-8A1B-7685-0FB3FC609B8C}"/>
              </a:ext>
            </a:extLst>
          </p:cNvPr>
          <p:cNvCxnSpPr/>
          <p:nvPr/>
        </p:nvCxnSpPr>
        <p:spPr>
          <a:xfrm flipV="1">
            <a:off x="1476000" y="828000"/>
            <a:ext cx="0" cy="288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etrieve_to_spans__2">
            <a:extLst>
              <a:ext uri="{FF2B5EF4-FFF2-40B4-BE49-F238E27FC236}">
                <a16:creationId xmlns:a16="http://schemas.microsoft.com/office/drawing/2014/main" id="{9310583F-6133-9D2D-9F87-A5B7BA857A4A}"/>
              </a:ext>
            </a:extLst>
          </p:cNvPr>
          <p:cNvCxnSpPr/>
          <p:nvPr/>
        </p:nvCxnSpPr>
        <p:spPr>
          <a:xfrm>
            <a:off x="1476000" y="828000"/>
            <a:ext cx="1494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retrieve_to_spans__3">
            <a:extLst>
              <a:ext uri="{FF2B5EF4-FFF2-40B4-BE49-F238E27FC236}">
                <a16:creationId xmlns:a16="http://schemas.microsoft.com/office/drawing/2014/main" id="{3B6118D6-6F8A-D9CC-CBB9-105871D4330B}"/>
              </a:ext>
            </a:extLst>
          </p:cNvPr>
          <p:cNvCxnSpPr/>
          <p:nvPr/>
        </p:nvCxnSpPr>
        <p:spPr>
          <a:xfrm flipV="1">
            <a:off x="2970000" y="756000"/>
            <a:ext cx="0" cy="72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pans_to_gate__1">
            <a:extLst>
              <a:ext uri="{FF2B5EF4-FFF2-40B4-BE49-F238E27FC236}">
                <a16:creationId xmlns:a16="http://schemas.microsoft.com/office/drawing/2014/main" id="{8804CE01-474E-CE7F-475B-8CABEFF17485}"/>
              </a:ext>
            </a:extLst>
          </p:cNvPr>
          <p:cNvCxnSpPr/>
          <p:nvPr/>
        </p:nvCxnSpPr>
        <p:spPr>
          <a:xfrm>
            <a:off x="3456000" y="594000"/>
            <a:ext cx="1152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pans_to_gate__2">
            <a:extLst>
              <a:ext uri="{FF2B5EF4-FFF2-40B4-BE49-F238E27FC236}">
                <a16:creationId xmlns:a16="http://schemas.microsoft.com/office/drawing/2014/main" id="{9ADA534D-9E74-3B53-DB88-DF21E79BF6E4}"/>
              </a:ext>
            </a:extLst>
          </p:cNvPr>
          <p:cNvCxnSpPr/>
          <p:nvPr/>
        </p:nvCxnSpPr>
        <p:spPr>
          <a:xfrm>
            <a:off x="4608000" y="594000"/>
            <a:ext cx="0" cy="30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pans_to_gate__3">
            <a:extLst>
              <a:ext uri="{FF2B5EF4-FFF2-40B4-BE49-F238E27FC236}">
                <a16:creationId xmlns:a16="http://schemas.microsoft.com/office/drawing/2014/main" id="{3D1A967F-7C72-F0C2-EAF4-AB68E68295BB}"/>
              </a:ext>
            </a:extLst>
          </p:cNvPr>
          <p:cNvCxnSpPr/>
          <p:nvPr/>
        </p:nvCxnSpPr>
        <p:spPr>
          <a:xfrm flipH="1">
            <a:off x="3852000" y="900000"/>
            <a:ext cx="756000" cy="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pans_to_gate__4">
            <a:extLst>
              <a:ext uri="{FF2B5EF4-FFF2-40B4-BE49-F238E27FC236}">
                <a16:creationId xmlns:a16="http://schemas.microsoft.com/office/drawing/2014/main" id="{B39E5959-057C-72C8-30C5-C2C11D1E42FF}"/>
              </a:ext>
            </a:extLst>
          </p:cNvPr>
          <p:cNvCxnSpPr/>
          <p:nvPr/>
        </p:nvCxnSpPr>
        <p:spPr>
          <a:xfrm>
            <a:off x="3852000" y="900000"/>
            <a:ext cx="0" cy="36000"/>
          </a:xfrm>
          <a:prstGeom prst="straightConnector1">
            <a:avLst/>
          </a:prstGeom>
          <a:ln w="1016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upported_branch">
            <a:extLst>
              <a:ext uri="{FF2B5EF4-FFF2-40B4-BE49-F238E27FC236}">
                <a16:creationId xmlns:a16="http://schemas.microsoft.com/office/drawing/2014/main" id="{58902DDC-A399-6087-A23B-13BA32511FD7}"/>
              </a:ext>
            </a:extLst>
          </p:cNvPr>
          <p:cNvCxnSpPr>
            <a:cxnSpLocks/>
            <a:stCxn id="13" idx="6"/>
          </p:cNvCxnSpPr>
          <p:nvPr/>
        </p:nvCxnSpPr>
        <p:spPr>
          <a:xfrm>
            <a:off x="4248000" y="1332000"/>
            <a:ext cx="900000" cy="0"/>
          </a:xfrm>
          <a:prstGeom prst="straightConnector1">
            <a:avLst/>
          </a:prstGeom>
          <a:ln w="13970">
            <a:solidFill>
              <a:srgbClr val="12635F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upported_condition" descr="Evidence-gated overview; L2; supported_condition">
            <a:extLst>
              <a:ext uri="{FF2B5EF4-FFF2-40B4-BE49-F238E27FC236}">
                <a16:creationId xmlns:a16="http://schemas.microsoft.com/office/drawing/2014/main" id="{73435A18-C6FD-C81D-1E7E-09C206F8474D}"/>
              </a:ext>
            </a:extLst>
          </p:cNvPr>
          <p:cNvSpPr txBox="1"/>
          <p:nvPr/>
        </p:nvSpPr>
        <p:spPr>
          <a:xfrm>
            <a:off x="4323600" y="1011600"/>
            <a:ext cx="792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12635F"/>
                </a:solidFill>
                <a:latin typeface="Arial" panose="020B0604020202020204" pitchFamily="34" charset="0"/>
              </a:rPr>
              <a:t>All cited claims
supported</a:t>
            </a:r>
            <a:endParaRPr lang="zh-CN" altLang="en-US" sz="720">
              <a:solidFill>
                <a:srgbClr val="12635F"/>
              </a:solidFill>
              <a:latin typeface="Arial" panose="020B0604020202020204" pitchFamily="34" charset="0"/>
            </a:endParaRPr>
          </a:p>
        </p:txBody>
      </p:sp>
      <p:cxnSp>
        <p:nvCxnSpPr>
          <p:cNvPr id="38" name="unsupported_stem">
            <a:extLst>
              <a:ext uri="{FF2B5EF4-FFF2-40B4-BE49-F238E27FC236}">
                <a16:creationId xmlns:a16="http://schemas.microsoft.com/office/drawing/2014/main" id="{CD4E7840-ED9A-3E5A-DBDD-864CCC21F7B8}"/>
              </a:ext>
            </a:extLst>
          </p:cNvPr>
          <p:cNvCxnSpPr/>
          <p:nvPr/>
        </p:nvCxnSpPr>
        <p:spPr>
          <a:xfrm>
            <a:off x="3852000" y="1728000"/>
            <a:ext cx="0" cy="18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unsupported_junction" descr="Evidence-gated overview; L2; unsupported_junction">
            <a:extLst>
              <a:ext uri="{FF2B5EF4-FFF2-40B4-BE49-F238E27FC236}">
                <a16:creationId xmlns:a16="http://schemas.microsoft.com/office/drawing/2014/main" id="{47F73FEF-5978-CCAF-5238-18BA3765C067}"/>
              </a:ext>
            </a:extLst>
          </p:cNvPr>
          <p:cNvSpPr/>
          <p:nvPr/>
        </p:nvSpPr>
        <p:spPr>
          <a:xfrm>
            <a:off x="3830400" y="1886400"/>
            <a:ext cx="43200" cy="43200"/>
          </a:xfrm>
          <a:prstGeom prst="ellipse">
            <a:avLst/>
          </a:prstGeom>
          <a:solidFill>
            <a:srgbClr val="9B4D32"/>
          </a:solidFill>
          <a:ln w="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0" cap="flat" cmpd="sng" algn="ctr">
                <a:solidFill>
                  <a:srgbClr val="9B4D32"/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retry_branch__1">
            <a:extLst>
              <a:ext uri="{FF2B5EF4-FFF2-40B4-BE49-F238E27FC236}">
                <a16:creationId xmlns:a16="http://schemas.microsoft.com/office/drawing/2014/main" id="{06FF3D85-338A-F52A-D2BF-C4CA5A5A1897}"/>
              </a:ext>
            </a:extLst>
          </p:cNvPr>
          <p:cNvCxnSpPr/>
          <p:nvPr/>
        </p:nvCxnSpPr>
        <p:spPr>
          <a:xfrm flipH="1">
            <a:off x="1476000" y="1908000"/>
            <a:ext cx="237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retry_branch__2">
            <a:extLst>
              <a:ext uri="{FF2B5EF4-FFF2-40B4-BE49-F238E27FC236}">
                <a16:creationId xmlns:a16="http://schemas.microsoft.com/office/drawing/2014/main" id="{B4CA6F3F-021B-572D-14E2-D5091B10720A}"/>
              </a:ext>
            </a:extLst>
          </p:cNvPr>
          <p:cNvCxnSpPr/>
          <p:nvPr/>
        </p:nvCxnSpPr>
        <p:spPr>
          <a:xfrm flipV="1">
            <a:off x="1476000" y="1548000"/>
            <a:ext cx="0" cy="36000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bstain_branch">
            <a:extLst>
              <a:ext uri="{FF2B5EF4-FFF2-40B4-BE49-F238E27FC236}">
                <a16:creationId xmlns:a16="http://schemas.microsoft.com/office/drawing/2014/main" id="{7EC0E37D-C543-2162-94E6-964294C99E49}"/>
              </a:ext>
            </a:extLst>
          </p:cNvPr>
          <p:cNvCxnSpPr/>
          <p:nvPr/>
        </p:nvCxnSpPr>
        <p:spPr>
          <a:xfrm>
            <a:off x="3852000" y="1908000"/>
            <a:ext cx="1296000" cy="0"/>
          </a:xfrm>
          <a:prstGeom prst="straightConnector1">
            <a:avLst/>
          </a:prstGeom>
          <a:ln w="13970">
            <a:solidFill>
              <a:srgbClr val="9B4D32"/>
            </a:solidFill>
            <a:headEnd type="none"/>
            <a:tailEnd type="arrow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try_condition" descr="Evidence-gated overview; L2; retry_condition">
            <a:extLst>
              <a:ext uri="{FF2B5EF4-FFF2-40B4-BE49-F238E27FC236}">
                <a16:creationId xmlns:a16="http://schemas.microsoft.com/office/drawing/2014/main" id="{D6A29E9A-0D67-B6E4-C7DD-BAB500253E46}"/>
              </a:ext>
            </a:extLst>
          </p:cNvPr>
          <p:cNvSpPr txBox="1"/>
          <p:nvPr/>
        </p:nvSpPr>
        <p:spPr>
          <a:xfrm>
            <a:off x="1692000" y="1717200"/>
            <a:ext cx="1764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9B4D32"/>
                </a:solidFill>
                <a:latin typeface="Arial" panose="020B0604020202020204" pitchFamily="34" charset="0"/>
              </a:rPr>
              <a:t>Unsupported, attempt &lt; 3</a:t>
            </a:r>
            <a:endParaRPr lang="zh-CN" altLang="en-US" sz="75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4" name="retry_action" descr="Evidence-gated overview; L2; retry_action">
            <a:extLst>
              <a:ext uri="{FF2B5EF4-FFF2-40B4-BE49-F238E27FC236}">
                <a16:creationId xmlns:a16="http://schemas.microsoft.com/office/drawing/2014/main" id="{617B144E-E05C-838D-2D90-E38C95B3B4A5}"/>
              </a:ext>
            </a:extLst>
          </p:cNvPr>
          <p:cNvSpPr txBox="1"/>
          <p:nvPr/>
        </p:nvSpPr>
        <p:spPr>
          <a:xfrm>
            <a:off x="1674000" y="1954800"/>
            <a:ext cx="2088000" cy="162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30">
                <a:solidFill>
                  <a:srgbClr val="9B4D32"/>
                </a:solidFill>
                <a:latin typeface="Arial" panose="020B0604020202020204" pitchFamily="34" charset="0"/>
              </a:rPr>
              <a:t>Retrieve more evidence, then revise</a:t>
            </a:r>
            <a:endParaRPr lang="zh-CN" altLang="en-US" sz="73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5" name="abstain_condition" descr="Evidence-gated overview; L2; abstain_condition">
            <a:extLst>
              <a:ext uri="{FF2B5EF4-FFF2-40B4-BE49-F238E27FC236}">
                <a16:creationId xmlns:a16="http://schemas.microsoft.com/office/drawing/2014/main" id="{C442E3E3-7D98-FA5C-8052-706372191144}"/>
              </a:ext>
            </a:extLst>
          </p:cNvPr>
          <p:cNvSpPr txBox="1"/>
          <p:nvPr/>
        </p:nvSpPr>
        <p:spPr>
          <a:xfrm>
            <a:off x="4212000" y="1591200"/>
            <a:ext cx="900000" cy="288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de-DE" altLang="zh-CN" sz="720">
                <a:solidFill>
                  <a:srgbClr val="9B4D32"/>
                </a:solidFill>
                <a:latin typeface="Arial" panose="020B0604020202020204" pitchFamily="34" charset="0"/>
              </a:rPr>
              <a:t>Unsupported
at attempt 3</a:t>
            </a:r>
            <a:endParaRPr lang="zh-CN" altLang="en-US" sz="720">
              <a:solidFill>
                <a:srgbClr val="9B4D32"/>
              </a:solidFill>
              <a:latin typeface="Arial" panose="020B0604020202020204" pitchFamily="34" charset="0"/>
            </a:endParaRPr>
          </a:p>
        </p:txBody>
      </p:sp>
      <p:sp>
        <p:nvSpPr>
          <p:cNvPr id="46" name="detail_ref_a" descr="Evidence-gated overview; L3; detail_ref_a">
            <a:extLst>
              <a:ext uri="{FF2B5EF4-FFF2-40B4-BE49-F238E27FC236}">
                <a16:creationId xmlns:a16="http://schemas.microsoft.com/office/drawing/2014/main" id="{FAC0BA5E-78C0-2176-9E77-832EA694573D}"/>
              </a:ext>
            </a:extLst>
          </p:cNvPr>
          <p:cNvSpPr txBox="1"/>
          <p:nvPr/>
        </p:nvSpPr>
        <p:spPr>
          <a:xfrm>
            <a:off x="1800000" y="972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a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7" name="detail_ref_b_draft" descr="Evidence-gated overview; L3; detail_ref_b_draft">
            <a:extLst>
              <a:ext uri="{FF2B5EF4-FFF2-40B4-BE49-F238E27FC236}">
                <a16:creationId xmlns:a16="http://schemas.microsoft.com/office/drawing/2014/main" id="{2F7C06BF-A467-26E9-7910-1C7013C9798B}"/>
              </a:ext>
            </a:extLst>
          </p:cNvPr>
          <p:cNvSpPr txBox="1"/>
          <p:nvPr/>
        </p:nvSpPr>
        <p:spPr>
          <a:xfrm>
            <a:off x="2952000" y="936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48" name="detail_ref_b_gate" descr="Evidence-gated overview; L3; detail_ref_b_gate">
            <a:extLst>
              <a:ext uri="{FF2B5EF4-FFF2-40B4-BE49-F238E27FC236}">
                <a16:creationId xmlns:a16="http://schemas.microsoft.com/office/drawing/2014/main" id="{673FE98E-FEEA-0B83-0322-D013470BF9FC}"/>
              </a:ext>
            </a:extLst>
          </p:cNvPr>
          <p:cNvSpPr txBox="1"/>
          <p:nvPr/>
        </p:nvSpPr>
        <p:spPr>
          <a:xfrm>
            <a:off x="4492800" y="630000"/>
            <a:ext cx="108000" cy="129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20" i="1">
                <a:solidFill>
                  <a:srgbClr val="52636A"/>
                </a:solidFill>
                <a:latin typeface="Arial" panose="020B0604020202020204" pitchFamily="34" charset="0"/>
              </a:rPr>
              <a:t>b</a:t>
            </a:r>
            <a:endParaRPr lang="zh-CN" altLang="en-US" sz="720" i="1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cxnSp>
        <p:nvCxnSpPr>
          <p:cNvPr id="49" name="detail_separator_a">
            <a:extLst>
              <a:ext uri="{FF2B5EF4-FFF2-40B4-BE49-F238E27FC236}">
                <a16:creationId xmlns:a16="http://schemas.microsoft.com/office/drawing/2014/main" id="{A1CE6C79-0815-9C6F-D1ED-D6C4D0816539}"/>
              </a:ext>
            </a:extLst>
          </p:cNvPr>
          <p:cNvCxnSpPr/>
          <p:nvPr/>
        </p:nvCxnSpPr>
        <p:spPr>
          <a:xfrm>
            <a:off x="144000" y="2196000"/>
            <a:ext cx="2736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detail_separator_b">
            <a:extLst>
              <a:ext uri="{FF2B5EF4-FFF2-40B4-BE49-F238E27FC236}">
                <a16:creationId xmlns:a16="http://schemas.microsoft.com/office/drawing/2014/main" id="{AAA08E1D-4C87-CA14-1163-5261723E3A8E}"/>
              </a:ext>
            </a:extLst>
          </p:cNvPr>
          <p:cNvCxnSpPr/>
          <p:nvPr/>
        </p:nvCxnSpPr>
        <p:spPr>
          <a:xfrm>
            <a:off x="3204000" y="2196000"/>
            <a:ext cx="2772000" cy="0"/>
          </a:xfrm>
          <a:prstGeom prst="straightConnector1">
            <a:avLst/>
          </a:prstGeom>
          <a:ln w="5715">
            <a:solidFill>
              <a:srgbClr val="A6B4B9"/>
            </a:solidFill>
            <a:headEnd type="none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etail_a_heading" descr="Evidence-gated overview; L3; detail_a_heading">
            <a:extLst>
              <a:ext uri="{FF2B5EF4-FFF2-40B4-BE49-F238E27FC236}">
                <a16:creationId xmlns:a16="http://schemas.microsoft.com/office/drawing/2014/main" id="{0951847A-4BA1-4D3A-0A88-34101D2AE1AE}"/>
              </a:ext>
            </a:extLst>
          </p:cNvPr>
          <p:cNvSpPr txBox="1"/>
          <p:nvPr/>
        </p:nvSpPr>
        <p:spPr>
          <a:xfrm>
            <a:off x="144000" y="2232000"/>
            <a:ext cx="2736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a  Retrieval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2" name="detail_a_prepare" descr="Evidence-gated overview; L3; detail_a_prepare">
            <a:extLst>
              <a:ext uri="{FF2B5EF4-FFF2-40B4-BE49-F238E27FC236}">
                <a16:creationId xmlns:a16="http://schemas.microsoft.com/office/drawing/2014/main" id="{859F7B98-BCEF-8E21-110A-C009D64288B1}"/>
              </a:ext>
            </a:extLst>
          </p:cNvPr>
          <p:cNvSpPr txBox="1"/>
          <p:nvPr/>
        </p:nvSpPr>
        <p:spPr>
          <a:xfrm>
            <a:off x="144000" y="241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Prepare: chunk → embed → index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3" name="detail_a_online" descr="Evidence-gated overview; L3; detail_a_online">
            <a:extLst>
              <a:ext uri="{FF2B5EF4-FFF2-40B4-BE49-F238E27FC236}">
                <a16:creationId xmlns:a16="http://schemas.microsoft.com/office/drawing/2014/main" id="{CE77DEB1-7D0E-2AEE-1F1D-807067025962}"/>
              </a:ext>
            </a:extLst>
          </p:cNvPr>
          <p:cNvSpPr txBox="1"/>
          <p:nvPr/>
        </p:nvSpPr>
        <p:spPr>
          <a:xfrm>
            <a:off x="144000" y="2592000"/>
            <a:ext cx="2736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Online: index lookup → rerank → passages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4" name="detail_b_heading" descr="Evidence-gated overview; L3; detail_b_heading">
            <a:extLst>
              <a:ext uri="{FF2B5EF4-FFF2-40B4-BE49-F238E27FC236}">
                <a16:creationId xmlns:a16="http://schemas.microsoft.com/office/drawing/2014/main" id="{4F8F18E1-C2F1-81F8-98F2-72BAA425130E}"/>
              </a:ext>
            </a:extLst>
          </p:cNvPr>
          <p:cNvSpPr txBox="1"/>
          <p:nvPr/>
        </p:nvSpPr>
        <p:spPr>
          <a:xfrm>
            <a:off x="3204000" y="2232000"/>
            <a:ext cx="2772000" cy="1584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800" b="1">
                <a:solidFill>
                  <a:srgbClr val="26363D"/>
                </a:solidFill>
                <a:latin typeface="Arial" panose="020B0604020202020204" pitchFamily="34" charset="0"/>
              </a:rPr>
              <a:t>b  Drafting and checking</a:t>
            </a:r>
            <a:endParaRPr lang="zh-CN" altLang="en-US" sz="800" b="1">
              <a:solidFill>
                <a:srgbClr val="26363D"/>
              </a:solidFill>
              <a:latin typeface="Arial" panose="020B0604020202020204" pitchFamily="34" charset="0"/>
            </a:endParaRPr>
          </a:p>
        </p:txBody>
      </p:sp>
      <p:sp>
        <p:nvSpPr>
          <p:cNvPr id="55" name="detail_b_draft" descr="Evidence-gated overview; L3; detail_b_draft">
            <a:extLst>
              <a:ext uri="{FF2B5EF4-FFF2-40B4-BE49-F238E27FC236}">
                <a16:creationId xmlns:a16="http://schemas.microsoft.com/office/drawing/2014/main" id="{828C504F-86F3-9D82-9886-928E6526D437}"/>
              </a:ext>
            </a:extLst>
          </p:cNvPr>
          <p:cNvSpPr txBox="1"/>
          <p:nvPr/>
        </p:nvSpPr>
        <p:spPr>
          <a:xfrm>
            <a:off x="3204000" y="241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de-DE" altLang="zh-CN" sz="750">
                <a:solidFill>
                  <a:srgbClr val="52636A"/>
                </a:solidFill>
                <a:latin typeface="Arial" panose="020B0604020202020204" pitchFamily="34" charset="0"/>
              </a:rPr>
              <a:t>Assemble prompt → generate → parse claims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  <p:sp>
        <p:nvSpPr>
          <p:cNvPr id="56" name="detail_b_check" descr="Evidence-gated overview; L3; detail_b_check">
            <a:extLst>
              <a:ext uri="{FF2B5EF4-FFF2-40B4-BE49-F238E27FC236}">
                <a16:creationId xmlns:a16="http://schemas.microsoft.com/office/drawing/2014/main" id="{F79B23CF-35C8-A448-E8EC-B2389C1FBB4C}"/>
              </a:ext>
            </a:extLst>
          </p:cNvPr>
          <p:cNvSpPr txBox="1"/>
          <p:nvPr/>
        </p:nvSpPr>
        <p:spPr>
          <a:xfrm>
            <a:off x="3204000" y="2592000"/>
            <a:ext cx="2772000" cy="151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750">
                <a:solidFill>
                  <a:srgbClr val="52636A"/>
                </a:solidFill>
                <a:latin typeface="Arial" panose="020B0604020202020204" pitchFamily="34" charset="0"/>
              </a:rPr>
              <a:t>Each cited claim + source span → support check</a:t>
            </a:r>
            <a:endParaRPr lang="zh-CN" altLang="en-US" sz="750">
              <a:solidFill>
                <a:srgbClr val="52636A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9749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</Words>
  <Application>Microsoft Office PowerPoint</Application>
  <PresentationFormat>自定义</PresentationFormat>
  <Paragraphs>27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 Yuan</dc:creator>
  <cp:lastModifiedBy>Feng Yuan</cp:lastModifiedBy>
  <cp:revision>1</cp:revision>
  <dcterms:created xsi:type="dcterms:W3CDTF">2026-09-05T10:04:30Z</dcterms:created>
  <dcterms:modified xsi:type="dcterms:W3CDTF">2026-09-05T10:04:30Z</dcterms:modified>
</cp:coreProperties>
</file>